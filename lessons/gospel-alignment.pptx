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notesMasterIdLst>
    <p:notesMasterId r:id="rId11"/>
  </p:notesMasterIdLst>
  <p:sldIdLst>
    <p:sldId id="256" r:id="rId2"/>
    <p:sldId id="268" r:id="rId3"/>
    <p:sldId id="267" r:id="rId4"/>
    <p:sldId id="272" r:id="rId5"/>
    <p:sldId id="269" r:id="rId6"/>
    <p:sldId id="270" r:id="rId7"/>
    <p:sldId id="271" r:id="rId8"/>
    <p:sldId id="273" r:id="rId9"/>
    <p:sldId id="27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746" autoAdjust="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F416A-214E-404F-AD5A-1BF62BB89116}"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FEE7AB-F124-47AA-85EA-44F84A143D3C}" type="slidenum">
              <a:rPr lang="en-US" smtClean="0"/>
              <a:t>‹#›</a:t>
            </a:fld>
            <a:endParaRPr lang="en-US"/>
          </a:p>
        </p:txBody>
      </p:sp>
    </p:spTree>
    <p:extLst>
      <p:ext uri="{BB962C8B-B14F-4D97-AF65-F5344CB8AC3E}">
        <p14:creationId xmlns:p14="http://schemas.microsoft.com/office/powerpoint/2010/main" val="3124260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FEE7AB-F124-47AA-85EA-44F84A143D3C}" type="slidenum">
              <a:rPr lang="en-US" smtClean="0"/>
              <a:t>1</a:t>
            </a:fld>
            <a:endParaRPr lang="en-US"/>
          </a:p>
        </p:txBody>
      </p:sp>
    </p:spTree>
    <p:extLst>
      <p:ext uri="{BB962C8B-B14F-4D97-AF65-F5344CB8AC3E}">
        <p14:creationId xmlns:p14="http://schemas.microsoft.com/office/powerpoint/2010/main" val="768160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effectLst/>
              </a:rPr>
              <a:t>Crete is spiritually unstable</a:t>
            </a:r>
            <a:r>
              <a:rPr lang="en-US" dirty="0">
                <a:effectLst/>
              </a:rPr>
              <a:t>, filled with false teachers, corrupt leaders, and chaotic households, so Paul sends Titus to stabilize the churches.</a:t>
            </a:r>
            <a:endParaRPr lang="en-US" dirty="0"/>
          </a:p>
          <a:p>
            <a:pPr lvl="0"/>
            <a:r>
              <a:rPr lang="en-US" b="1" dirty="0">
                <a:effectLst/>
              </a:rPr>
              <a:t>Titus’s first assignment is to appoint qualified elders</a:t>
            </a:r>
            <a:r>
              <a:rPr lang="en-US" dirty="0">
                <a:effectLst/>
              </a:rPr>
              <a:t>, men whose character and doctrine protect the church from error.</a:t>
            </a:r>
            <a:endParaRPr lang="en-US" dirty="0"/>
          </a:p>
          <a:p>
            <a:pPr lvl="0"/>
            <a:r>
              <a:rPr lang="en-US" b="1" dirty="0">
                <a:effectLst/>
              </a:rPr>
              <a:t>Paul contrasts true elders with false teachers</a:t>
            </a:r>
            <a:r>
              <a:rPr lang="en-US" dirty="0">
                <a:effectLst/>
              </a:rPr>
              <a:t>, showing how unhealthy teaching destroys families and dishonors the gospel.</a:t>
            </a:r>
            <a:endParaRPr lang="en-US" dirty="0"/>
          </a:p>
          <a:p>
            <a:pPr lvl="0"/>
            <a:r>
              <a:rPr lang="en-US" b="1" dirty="0">
                <a:effectLst/>
              </a:rPr>
              <a:t>The chapter establishes the need for sound doctrine</a:t>
            </a:r>
            <a:r>
              <a:rPr lang="en-US" dirty="0">
                <a:effectLst/>
              </a:rPr>
              <a:t>, because without healthy leadership, the church cannot be healthy.</a:t>
            </a:r>
          </a:p>
          <a:p>
            <a:pPr lvl="0"/>
            <a:endParaRPr lang="en-US" b="1" dirty="0">
              <a:effectLst/>
            </a:endParaRPr>
          </a:p>
          <a:p>
            <a:pPr lvl="0"/>
            <a:r>
              <a:rPr lang="en-US" b="1" dirty="0">
                <a:effectLst/>
              </a:rPr>
              <a:t>Paul shifts from leaders to everyday believers</a:t>
            </a:r>
            <a:r>
              <a:rPr lang="en-US" dirty="0">
                <a:effectLst/>
              </a:rPr>
              <a:t>, showing how sound doctrine shapes relationships and daily life.</a:t>
            </a:r>
            <a:endParaRPr lang="en-US" dirty="0"/>
          </a:p>
          <a:p>
            <a:pPr lvl="0"/>
            <a:r>
              <a:rPr lang="en-US" b="1" dirty="0">
                <a:effectLst/>
              </a:rPr>
              <a:t>Each demographic group receives specific guidance</a:t>
            </a:r>
            <a:r>
              <a:rPr lang="en-US" dirty="0">
                <a:effectLst/>
              </a:rPr>
              <a:t>—older men, older women, younger women, younger men, and slaves—because gospel living is communal and generational.</a:t>
            </a:r>
            <a:endParaRPr lang="en-US" dirty="0"/>
          </a:p>
          <a:p>
            <a:pPr lvl="0"/>
            <a:r>
              <a:rPr lang="en-US" b="1" dirty="0">
                <a:effectLst/>
              </a:rPr>
              <a:t>The commands are practical and relational</a:t>
            </a:r>
            <a:r>
              <a:rPr lang="en-US" dirty="0">
                <a:effectLst/>
              </a:rPr>
              <a:t>, emphasizing self‑control, dignity, love, purity, and integrity as visible expressions of the gospel.</a:t>
            </a:r>
            <a:endParaRPr lang="en-US" dirty="0"/>
          </a:p>
          <a:p>
            <a:pPr lvl="0"/>
            <a:r>
              <a:rPr lang="en-US" b="1" dirty="0">
                <a:effectLst/>
              </a:rPr>
              <a:t>The purpose is missional through discipleship</a:t>
            </a:r>
            <a:r>
              <a:rPr lang="en-US" dirty="0">
                <a:effectLst/>
              </a:rPr>
              <a:t>, so that God’s Word is honored, critics are silenced, and the gospel is “adorned” through healthy lives.</a:t>
            </a:r>
            <a:endParaRPr lang="en-US" dirty="0"/>
          </a:p>
          <a:p>
            <a:pPr lvl="0"/>
            <a:endParaRPr lang="en-US" dirty="0"/>
          </a:p>
          <a:p>
            <a:endParaRPr lang="en-US" dirty="0"/>
          </a:p>
        </p:txBody>
      </p:sp>
      <p:sp>
        <p:nvSpPr>
          <p:cNvPr id="4" name="Slide Number Placeholder 3"/>
          <p:cNvSpPr>
            <a:spLocks noGrp="1"/>
          </p:cNvSpPr>
          <p:nvPr>
            <p:ph type="sldNum" sz="quarter" idx="5"/>
          </p:nvPr>
        </p:nvSpPr>
        <p:spPr/>
        <p:txBody>
          <a:bodyPr/>
          <a:lstStyle/>
          <a:p>
            <a:fld id="{A2FEE7AB-F124-47AA-85EA-44F84A143D3C}" type="slidenum">
              <a:rPr lang="en-US" smtClean="0"/>
              <a:t>2</a:t>
            </a:fld>
            <a:endParaRPr lang="en-US"/>
          </a:p>
        </p:txBody>
      </p:sp>
    </p:spTree>
    <p:extLst>
      <p:ext uri="{BB962C8B-B14F-4D97-AF65-F5344CB8AC3E}">
        <p14:creationId xmlns:p14="http://schemas.microsoft.com/office/powerpoint/2010/main" val="399381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Re-read Titus 2:1</a:t>
            </a:r>
          </a:p>
          <a:p>
            <a:r>
              <a:rPr lang="en-US" dirty="0"/>
              <a:t>Sound is the Greek word </a:t>
            </a:r>
            <a:r>
              <a:rPr lang="en-US" sz="1200" b="1" i="0" kern="1200" dirty="0" err="1">
                <a:solidFill>
                  <a:schemeClr val="tx1"/>
                </a:solidFill>
                <a:effectLst/>
                <a:latin typeface="+mn-lt"/>
                <a:ea typeface="+mn-ea"/>
                <a:cs typeface="+mn-cs"/>
              </a:rPr>
              <a:t>hugiainó</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hoog</a:t>
            </a:r>
            <a:r>
              <a:rPr lang="en-US" sz="1200" b="0" i="0" kern="1200" dirty="0">
                <a:solidFill>
                  <a:schemeClr val="tx1"/>
                </a:solidFill>
                <a:effectLst/>
                <a:latin typeface="+mn-lt"/>
                <a:ea typeface="+mn-ea"/>
                <a:cs typeface="+mn-cs"/>
              </a:rPr>
              <a:t>-ee-ah'-ee-no).</a:t>
            </a:r>
            <a:endParaRPr lang="en-US" b="1" dirty="0"/>
          </a:p>
        </p:txBody>
      </p:sp>
      <p:sp>
        <p:nvSpPr>
          <p:cNvPr id="4" name="Slide Number Placeholder 3"/>
          <p:cNvSpPr>
            <a:spLocks noGrp="1"/>
          </p:cNvSpPr>
          <p:nvPr>
            <p:ph type="sldNum" sz="quarter" idx="5"/>
          </p:nvPr>
        </p:nvSpPr>
        <p:spPr/>
        <p:txBody>
          <a:bodyPr/>
          <a:lstStyle/>
          <a:p>
            <a:fld id="{A2FEE7AB-F124-47AA-85EA-44F84A143D3C}" type="slidenum">
              <a:rPr lang="en-US" smtClean="0"/>
              <a:t>3</a:t>
            </a:fld>
            <a:endParaRPr lang="en-US"/>
          </a:p>
        </p:txBody>
      </p:sp>
    </p:spTree>
    <p:extLst>
      <p:ext uri="{BB962C8B-B14F-4D97-AF65-F5344CB8AC3E}">
        <p14:creationId xmlns:p14="http://schemas.microsoft.com/office/powerpoint/2010/main" val="190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Re-read Titus 2:2-8.</a:t>
            </a:r>
          </a:p>
          <a:p>
            <a:r>
              <a:rPr lang="en-US" dirty="0"/>
              <a:t>“In the same way” we share the same posture.</a:t>
            </a:r>
          </a:p>
          <a:p>
            <a:r>
              <a:rPr lang="en-US" dirty="0"/>
              <a:t>“So that” we share the same mission.</a:t>
            </a:r>
          </a:p>
        </p:txBody>
      </p:sp>
      <p:sp>
        <p:nvSpPr>
          <p:cNvPr id="4" name="Slide Number Placeholder 3"/>
          <p:cNvSpPr>
            <a:spLocks noGrp="1"/>
          </p:cNvSpPr>
          <p:nvPr>
            <p:ph type="sldNum" sz="quarter" idx="5"/>
          </p:nvPr>
        </p:nvSpPr>
        <p:spPr/>
        <p:txBody>
          <a:bodyPr/>
          <a:lstStyle/>
          <a:p>
            <a:fld id="{A2FEE7AB-F124-47AA-85EA-44F84A143D3C}" type="slidenum">
              <a:rPr lang="en-US" smtClean="0"/>
              <a:t>5</a:t>
            </a:fld>
            <a:endParaRPr lang="en-US"/>
          </a:p>
        </p:txBody>
      </p:sp>
    </p:spTree>
    <p:extLst>
      <p:ext uri="{BB962C8B-B14F-4D97-AF65-F5344CB8AC3E}">
        <p14:creationId xmlns:p14="http://schemas.microsoft.com/office/powerpoint/2010/main" val="2161557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Corinthians 11:5</a:t>
            </a:r>
          </a:p>
          <a:p>
            <a:r>
              <a:rPr lang="en-US" dirty="0"/>
              <a:t>Titus 2:3-4</a:t>
            </a:r>
          </a:p>
          <a:p>
            <a:r>
              <a:rPr lang="en-US" dirty="0"/>
              <a:t>Romans 16:3-5</a:t>
            </a:r>
          </a:p>
          <a:p>
            <a:r>
              <a:rPr lang="en-US" dirty="0"/>
              <a:t>1 Corinthains 14:34-35</a:t>
            </a:r>
          </a:p>
          <a:p>
            <a:r>
              <a:rPr lang="en-US" dirty="0"/>
              <a:t>1 Timothy 2:11-12</a:t>
            </a:r>
          </a:p>
        </p:txBody>
      </p:sp>
      <p:sp>
        <p:nvSpPr>
          <p:cNvPr id="4" name="Slide Number Placeholder 3"/>
          <p:cNvSpPr>
            <a:spLocks noGrp="1"/>
          </p:cNvSpPr>
          <p:nvPr>
            <p:ph type="sldNum" sz="quarter" idx="5"/>
          </p:nvPr>
        </p:nvSpPr>
        <p:spPr/>
        <p:txBody>
          <a:bodyPr/>
          <a:lstStyle/>
          <a:p>
            <a:fld id="{A2FEE7AB-F124-47AA-85EA-44F84A143D3C}" type="slidenum">
              <a:rPr lang="en-US" smtClean="0"/>
              <a:t>6</a:t>
            </a:fld>
            <a:endParaRPr lang="en-US"/>
          </a:p>
        </p:txBody>
      </p:sp>
    </p:spTree>
    <p:extLst>
      <p:ext uri="{BB962C8B-B14F-4D97-AF65-F5344CB8AC3E}">
        <p14:creationId xmlns:p14="http://schemas.microsoft.com/office/powerpoint/2010/main" val="2359262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FEE7AB-F124-47AA-85EA-44F84A143D3C}" type="slidenum">
              <a:rPr lang="en-US" smtClean="0"/>
              <a:t>7</a:t>
            </a:fld>
            <a:endParaRPr lang="en-US"/>
          </a:p>
        </p:txBody>
      </p:sp>
    </p:spTree>
    <p:extLst>
      <p:ext uri="{BB962C8B-B14F-4D97-AF65-F5344CB8AC3E}">
        <p14:creationId xmlns:p14="http://schemas.microsoft.com/office/powerpoint/2010/main" val="1288962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Re-read Titus 2:11-15</a:t>
            </a:r>
          </a:p>
        </p:txBody>
      </p:sp>
      <p:sp>
        <p:nvSpPr>
          <p:cNvPr id="4" name="Slide Number Placeholder 3"/>
          <p:cNvSpPr>
            <a:spLocks noGrp="1"/>
          </p:cNvSpPr>
          <p:nvPr>
            <p:ph type="sldNum" sz="quarter" idx="5"/>
          </p:nvPr>
        </p:nvSpPr>
        <p:spPr/>
        <p:txBody>
          <a:bodyPr/>
          <a:lstStyle/>
          <a:p>
            <a:fld id="{A2FEE7AB-F124-47AA-85EA-44F84A143D3C}" type="slidenum">
              <a:rPr lang="en-US" smtClean="0"/>
              <a:t>8</a:t>
            </a:fld>
            <a:endParaRPr lang="en-US"/>
          </a:p>
        </p:txBody>
      </p:sp>
    </p:spTree>
    <p:extLst>
      <p:ext uri="{BB962C8B-B14F-4D97-AF65-F5344CB8AC3E}">
        <p14:creationId xmlns:p14="http://schemas.microsoft.com/office/powerpoint/2010/main" val="1820901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15235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B151B6-AC67-475C-A2E7-57C5D004DB52}"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95953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B151B6-AC67-475C-A2E7-57C5D004DB52}"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4242568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AB151B6-AC67-475C-A2E7-57C5D004DB52}" type="datetimeFigureOut">
              <a:rPr lang="en-US" smtClean="0"/>
              <a:t>8/20/2026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9610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3AB151B6-AC67-475C-A2E7-57C5D004DB52}" type="datetimeFigureOut">
              <a:rPr lang="en-US" smtClean="0"/>
              <a:t>8/20/2026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1768143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3AB151B6-AC67-475C-A2E7-57C5D004DB52}" type="datetimeFigureOut">
              <a:rPr lang="en-US" smtClean="0"/>
              <a:t>8/20/2026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157976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AB151B6-AC67-475C-A2E7-57C5D004DB52}"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485216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AB151B6-AC67-475C-A2E7-57C5D004DB52}" type="datetimeFigureOut">
              <a:rPr lang="en-US" smtClean="0"/>
              <a:t>8/20/2026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53431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3AB151B6-AC67-475C-A2E7-57C5D004DB52}" type="datetimeFigureOut">
              <a:rPr lang="en-US" smtClean="0"/>
              <a:t>8/20/2026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79204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B151B6-AC67-475C-A2E7-57C5D004DB52}"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3143084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B151B6-AC67-475C-A2E7-57C5D004DB52}"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7622EC-91B0-4223-B3F2-31A32DCEF1FB}" type="slidenum">
              <a:rPr lang="en-US" smtClean="0"/>
              <a:t>‹#›</a:t>
            </a:fld>
            <a:endParaRPr lang="en-US"/>
          </a:p>
        </p:txBody>
      </p:sp>
    </p:spTree>
    <p:extLst>
      <p:ext uri="{BB962C8B-B14F-4D97-AF65-F5344CB8AC3E}">
        <p14:creationId xmlns:p14="http://schemas.microsoft.com/office/powerpoint/2010/main" val="2190476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3AB151B6-AC67-475C-A2E7-57C5D004DB52}" type="datetimeFigureOut">
              <a:rPr lang="en-US" smtClean="0"/>
              <a:t>8/20/2026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8F7622EC-91B0-4223-B3F2-31A32DCEF1FB}" type="slidenum">
              <a:rPr lang="en-US" smtClean="0"/>
              <a:t>‹#›</a:t>
            </a:fld>
            <a:endParaRPr lang="en-US"/>
          </a:p>
        </p:txBody>
      </p:sp>
    </p:spTree>
    <p:extLst>
      <p:ext uri="{BB962C8B-B14F-4D97-AF65-F5344CB8AC3E}">
        <p14:creationId xmlns:p14="http://schemas.microsoft.com/office/powerpoint/2010/main" val="1881268185"/>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AE860-8A95-9EF0-D894-C2986C4F467B}"/>
              </a:ext>
            </a:extLst>
          </p:cNvPr>
          <p:cNvSpPr>
            <a:spLocks noGrp="1"/>
          </p:cNvSpPr>
          <p:nvPr>
            <p:ph type="ctrTitle"/>
          </p:nvPr>
        </p:nvSpPr>
        <p:spPr/>
        <p:txBody>
          <a:bodyPr>
            <a:normAutofit/>
          </a:bodyPr>
          <a:lstStyle/>
          <a:p>
            <a:r>
              <a:rPr lang="en-US" dirty="0"/>
              <a:t>Gospel Alignment</a:t>
            </a:r>
          </a:p>
        </p:txBody>
      </p:sp>
      <p:sp>
        <p:nvSpPr>
          <p:cNvPr id="3" name="Subtitle 2">
            <a:extLst>
              <a:ext uri="{FF2B5EF4-FFF2-40B4-BE49-F238E27FC236}">
                <a16:creationId xmlns:a16="http://schemas.microsoft.com/office/drawing/2014/main" id="{DDBDBF1A-DEDF-4CB1-0605-D0FBB23C73F5}"/>
              </a:ext>
            </a:extLst>
          </p:cNvPr>
          <p:cNvSpPr>
            <a:spLocks noGrp="1"/>
          </p:cNvSpPr>
          <p:nvPr>
            <p:ph type="subTitle" idx="1"/>
          </p:nvPr>
        </p:nvSpPr>
        <p:spPr/>
        <p:txBody>
          <a:bodyPr>
            <a:normAutofit/>
          </a:bodyPr>
          <a:lstStyle/>
          <a:p>
            <a:r>
              <a:rPr lang="en-US" dirty="0">
                <a:solidFill>
                  <a:schemeClr val="tx1"/>
                </a:solidFill>
              </a:rPr>
              <a:t>Redeeming Submission Through Sound Doctrine</a:t>
            </a:r>
          </a:p>
          <a:p>
            <a:r>
              <a:rPr lang="en-US" dirty="0">
                <a:solidFill>
                  <a:schemeClr val="tx1"/>
                </a:solidFill>
              </a:rPr>
              <a:t>Focus: Titus 2</a:t>
            </a:r>
          </a:p>
        </p:txBody>
      </p:sp>
    </p:spTree>
    <p:extLst>
      <p:ext uri="{BB962C8B-B14F-4D97-AF65-F5344CB8AC3E}">
        <p14:creationId xmlns:p14="http://schemas.microsoft.com/office/powerpoint/2010/main" val="38701832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05CD-9FAF-D972-23D4-EF6DBCA73F17}"/>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AC43B2CB-A281-80C3-F785-E4DD8EA6D132}"/>
              </a:ext>
            </a:extLst>
          </p:cNvPr>
          <p:cNvSpPr>
            <a:spLocks noGrp="1"/>
          </p:cNvSpPr>
          <p:nvPr>
            <p:ph sz="half" idx="1"/>
          </p:nvPr>
        </p:nvSpPr>
        <p:spPr>
          <a:xfrm>
            <a:off x="3657600" y="868680"/>
            <a:ext cx="3780148" cy="5120640"/>
          </a:xfrm>
        </p:spPr>
        <p:txBody>
          <a:bodyPr anchor="t">
            <a:normAutofit/>
          </a:bodyPr>
          <a:lstStyle/>
          <a:p>
            <a:pPr marL="0" indent="0">
              <a:buNone/>
            </a:pPr>
            <a:r>
              <a:rPr lang="en-US" sz="2400" dirty="0">
                <a:solidFill>
                  <a:schemeClr val="tx1"/>
                </a:solidFill>
              </a:rPr>
              <a:t>Chapter 1</a:t>
            </a:r>
          </a:p>
          <a:p>
            <a:r>
              <a:rPr lang="en-US" sz="2400" dirty="0">
                <a:solidFill>
                  <a:schemeClr val="tx1"/>
                </a:solidFill>
              </a:rPr>
              <a:t>Crete is spiritually unstable</a:t>
            </a:r>
          </a:p>
          <a:p>
            <a:r>
              <a:rPr lang="en-US" sz="2400" dirty="0">
                <a:solidFill>
                  <a:schemeClr val="tx1"/>
                </a:solidFill>
              </a:rPr>
              <a:t>Titus’s first assignment is to appoint qualified elders</a:t>
            </a:r>
          </a:p>
          <a:p>
            <a:r>
              <a:rPr lang="en-US" sz="2400" dirty="0">
                <a:solidFill>
                  <a:schemeClr val="tx1"/>
                </a:solidFill>
              </a:rPr>
              <a:t>Paul contrasts true elders with false teachers</a:t>
            </a:r>
          </a:p>
          <a:p>
            <a:r>
              <a:rPr lang="en-US" sz="2400" dirty="0">
                <a:solidFill>
                  <a:schemeClr val="tx1"/>
                </a:solidFill>
              </a:rPr>
              <a:t>The chapter establishes the need for sound doctrine</a:t>
            </a:r>
          </a:p>
        </p:txBody>
      </p:sp>
      <p:sp>
        <p:nvSpPr>
          <p:cNvPr id="4" name="Content Placeholder 3">
            <a:extLst>
              <a:ext uri="{FF2B5EF4-FFF2-40B4-BE49-F238E27FC236}">
                <a16:creationId xmlns:a16="http://schemas.microsoft.com/office/drawing/2014/main" id="{AB36E5B4-ADE6-93A0-4DAD-3AFBC45D2703}"/>
              </a:ext>
            </a:extLst>
          </p:cNvPr>
          <p:cNvSpPr>
            <a:spLocks noGrp="1"/>
          </p:cNvSpPr>
          <p:nvPr>
            <p:ph sz="half" idx="2"/>
          </p:nvPr>
        </p:nvSpPr>
        <p:spPr/>
        <p:txBody>
          <a:bodyPr anchor="t">
            <a:normAutofit/>
          </a:bodyPr>
          <a:lstStyle/>
          <a:p>
            <a:pPr marL="0" indent="0">
              <a:buNone/>
            </a:pPr>
            <a:r>
              <a:rPr lang="en-US" sz="2400" dirty="0">
                <a:solidFill>
                  <a:schemeClr val="tx1"/>
                </a:solidFill>
              </a:rPr>
              <a:t>Chapter 2</a:t>
            </a:r>
          </a:p>
          <a:p>
            <a:r>
              <a:rPr lang="en-US" sz="2400" dirty="0">
                <a:solidFill>
                  <a:schemeClr val="tx1"/>
                </a:solidFill>
              </a:rPr>
              <a:t>Pual shifts from leaders to everyday believers</a:t>
            </a:r>
          </a:p>
          <a:p>
            <a:r>
              <a:rPr lang="en-US" sz="2400" dirty="0">
                <a:solidFill>
                  <a:schemeClr val="tx1"/>
                </a:solidFill>
              </a:rPr>
              <a:t>Each demographic group receives specific guidance</a:t>
            </a:r>
          </a:p>
          <a:p>
            <a:r>
              <a:rPr lang="en-US" sz="2400" dirty="0">
                <a:solidFill>
                  <a:schemeClr val="tx1"/>
                </a:solidFill>
              </a:rPr>
              <a:t>The commands are practical and relational</a:t>
            </a:r>
          </a:p>
          <a:p>
            <a:r>
              <a:rPr lang="en-US" sz="2400" dirty="0">
                <a:solidFill>
                  <a:schemeClr val="tx1"/>
                </a:solidFill>
              </a:rPr>
              <a:t>The purpose is missional through discipleship</a:t>
            </a:r>
          </a:p>
        </p:txBody>
      </p:sp>
    </p:spTree>
    <p:extLst>
      <p:ext uri="{BB962C8B-B14F-4D97-AF65-F5344CB8AC3E}">
        <p14:creationId xmlns:p14="http://schemas.microsoft.com/office/powerpoint/2010/main" val="1669857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3616-EBF7-D7F0-029E-C793C9A1DCB0}"/>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42C096A5-26CF-8B9D-D4AD-B44AD04098EF}"/>
              </a:ext>
            </a:extLst>
          </p:cNvPr>
          <p:cNvSpPr>
            <a:spLocks noGrp="1"/>
          </p:cNvSpPr>
          <p:nvPr>
            <p:ph idx="1"/>
          </p:nvPr>
        </p:nvSpPr>
        <p:spPr/>
        <p:txBody>
          <a:bodyPr>
            <a:normAutofit/>
          </a:bodyPr>
          <a:lstStyle/>
          <a:p>
            <a:pPr marL="0" indent="0">
              <a:buNone/>
            </a:pPr>
            <a:r>
              <a:rPr lang="en-US" sz="4400" dirty="0">
                <a:solidFill>
                  <a:schemeClr val="tx1"/>
                </a:solidFill>
              </a:rPr>
              <a:t>How do we make sure the teaching we receive is truly sound—rooted in Scripture, understood in context, and applied in a way that produces healthy fruit in our lives?</a:t>
            </a:r>
          </a:p>
        </p:txBody>
      </p:sp>
    </p:spTree>
    <p:extLst>
      <p:ext uri="{BB962C8B-B14F-4D97-AF65-F5344CB8AC3E}">
        <p14:creationId xmlns:p14="http://schemas.microsoft.com/office/powerpoint/2010/main" val="98240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A6B6-7B52-4E95-462E-FC69E2D5DBD5}"/>
              </a:ext>
            </a:extLst>
          </p:cNvPr>
          <p:cNvSpPr>
            <a:spLocks noGrp="1"/>
          </p:cNvSpPr>
          <p:nvPr>
            <p:ph type="title"/>
          </p:nvPr>
        </p:nvSpPr>
        <p:spPr/>
        <p:txBody>
          <a:bodyPr/>
          <a:lstStyle/>
          <a:p>
            <a:r>
              <a:rPr lang="en-US" dirty="0"/>
              <a:t>A Word Study: Submission</a:t>
            </a:r>
          </a:p>
        </p:txBody>
      </p:sp>
      <p:sp>
        <p:nvSpPr>
          <p:cNvPr id="3" name="Content Placeholder 2">
            <a:extLst>
              <a:ext uri="{FF2B5EF4-FFF2-40B4-BE49-F238E27FC236}">
                <a16:creationId xmlns:a16="http://schemas.microsoft.com/office/drawing/2014/main" id="{5F7BFA14-E679-96AB-FCB7-EF2822E5CA20}"/>
              </a:ext>
            </a:extLst>
          </p:cNvPr>
          <p:cNvSpPr>
            <a:spLocks noGrp="1"/>
          </p:cNvSpPr>
          <p:nvPr>
            <p:ph idx="1"/>
          </p:nvPr>
        </p:nvSpPr>
        <p:spPr/>
        <p:txBody>
          <a:bodyPr/>
          <a:lstStyle/>
          <a:p>
            <a:r>
              <a:rPr lang="en-US" b="1" dirty="0"/>
              <a:t>ὑπ</a:t>
            </a:r>
            <a:r>
              <a:rPr lang="en-US" b="1" dirty="0" err="1"/>
              <a:t>οτάσσω</a:t>
            </a:r>
            <a:r>
              <a:rPr lang="en-US" b="1" dirty="0"/>
              <a:t> — </a:t>
            </a:r>
            <a:r>
              <a:rPr lang="en-US" b="1" i="1" dirty="0" err="1"/>
              <a:t>hypotássō</a:t>
            </a:r>
            <a:r>
              <a:rPr lang="en-US" b="1" dirty="0"/>
              <a:t> (hoop-pa-TASS-oh)</a:t>
            </a:r>
          </a:p>
          <a:p>
            <a:r>
              <a:rPr lang="en-US" b="1" dirty="0"/>
              <a:t>Meaning:</a:t>
            </a:r>
            <a:r>
              <a:rPr lang="en-US" dirty="0"/>
              <a:t> “to arrange under; to submit”</a:t>
            </a:r>
          </a:p>
          <a:p>
            <a:pPr lvl="0"/>
            <a:r>
              <a:rPr lang="en-US" b="1" dirty="0"/>
              <a:t>Core Idea:</a:t>
            </a:r>
            <a:r>
              <a:rPr lang="en-US" dirty="0"/>
              <a:t> voluntary, relational alignment under rightful order</a:t>
            </a:r>
          </a:p>
          <a:p>
            <a:pPr lvl="0"/>
            <a:r>
              <a:rPr lang="en-US" b="1" dirty="0"/>
              <a:t>Middle Voice Nuance:</a:t>
            </a:r>
            <a:r>
              <a:rPr lang="en-US" dirty="0"/>
              <a:t> subject </a:t>
            </a:r>
            <a:r>
              <a:rPr lang="en-US" i="1" dirty="0"/>
              <a:t>acts on self</a:t>
            </a:r>
            <a:r>
              <a:rPr lang="en-US" dirty="0"/>
              <a:t> — “to place oneself under,” not “to be forced under” (</a:t>
            </a:r>
            <a:r>
              <a:rPr lang="en-US" i="1" dirty="0"/>
              <a:t>looking at surrounding text</a:t>
            </a:r>
            <a:r>
              <a:rPr lang="en-US" dirty="0"/>
              <a:t>)</a:t>
            </a:r>
          </a:p>
          <a:p>
            <a:pPr lvl="0"/>
            <a:r>
              <a:rPr lang="en-US" b="1" dirty="0"/>
              <a:t>Titus 2:5:</a:t>
            </a:r>
            <a:r>
              <a:rPr lang="en-US" dirty="0"/>
              <a:t> ὑπ</a:t>
            </a:r>
            <a:r>
              <a:rPr lang="en-US" dirty="0" err="1"/>
              <a:t>οτ</a:t>
            </a:r>
            <a:r>
              <a:rPr lang="en-US" dirty="0"/>
              <a:t>ασσομένας = younger women </a:t>
            </a:r>
            <a:r>
              <a:rPr lang="en-US" i="1" dirty="0"/>
              <a:t>choosing</a:t>
            </a:r>
            <a:r>
              <a:rPr lang="en-US" dirty="0"/>
              <a:t> alignment for the sake of the gospel’s credibility</a:t>
            </a:r>
          </a:p>
          <a:p>
            <a:pPr lvl="0"/>
            <a:r>
              <a:rPr lang="en-US" b="1" dirty="0"/>
              <a:t>Ephesians 5:</a:t>
            </a:r>
            <a:r>
              <a:rPr lang="en-US" dirty="0"/>
              <a:t> same middle‑sense; wives’ submission flows from the mutual, Spirit‑led self‑submission of 5:21</a:t>
            </a:r>
          </a:p>
          <a:p>
            <a:pPr lvl="0"/>
            <a:r>
              <a:rPr lang="en-US" b="1" dirty="0"/>
              <a:t>Theological Weight:</a:t>
            </a:r>
            <a:r>
              <a:rPr lang="en-US" dirty="0"/>
              <a:t> not inferiority, but willing participation in God’s ordered design</a:t>
            </a:r>
          </a:p>
        </p:txBody>
      </p:sp>
    </p:spTree>
    <p:extLst>
      <p:ext uri="{BB962C8B-B14F-4D97-AF65-F5344CB8AC3E}">
        <p14:creationId xmlns:p14="http://schemas.microsoft.com/office/powerpoint/2010/main" val="1689519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CB72-B975-A3F3-F4BD-87FF16A5A0DE}"/>
              </a:ext>
            </a:extLst>
          </p:cNvPr>
          <p:cNvSpPr>
            <a:spLocks noGrp="1"/>
          </p:cNvSpPr>
          <p:nvPr>
            <p:ph type="title"/>
          </p:nvPr>
        </p:nvSpPr>
        <p:spPr/>
        <p:txBody>
          <a:bodyPr/>
          <a:lstStyle/>
          <a:p>
            <a:pPr algn="ctr"/>
            <a:r>
              <a:rPr lang="en-US" dirty="0"/>
              <a:t>Have we been taught correctly?</a:t>
            </a:r>
          </a:p>
        </p:txBody>
      </p:sp>
      <p:sp>
        <p:nvSpPr>
          <p:cNvPr id="3" name="Text Placeholder 2">
            <a:extLst>
              <a:ext uri="{FF2B5EF4-FFF2-40B4-BE49-F238E27FC236}">
                <a16:creationId xmlns:a16="http://schemas.microsoft.com/office/drawing/2014/main" id="{C92EDBA9-2128-921C-1BC3-04AB0CEF24FD}"/>
              </a:ext>
            </a:extLst>
          </p:cNvPr>
          <p:cNvSpPr>
            <a:spLocks noGrp="1"/>
          </p:cNvSpPr>
          <p:nvPr>
            <p:ph type="body" idx="1"/>
          </p:nvPr>
        </p:nvSpPr>
        <p:spPr/>
        <p:txBody>
          <a:bodyPr/>
          <a:lstStyle/>
          <a:p>
            <a:pPr algn="ctr"/>
            <a:r>
              <a:rPr lang="en-US" dirty="0">
                <a:solidFill>
                  <a:schemeClr val="tx1"/>
                </a:solidFill>
              </a:rPr>
              <a:t>What the world says</a:t>
            </a:r>
          </a:p>
        </p:txBody>
      </p:sp>
      <p:sp>
        <p:nvSpPr>
          <p:cNvPr id="4" name="Content Placeholder 3">
            <a:extLst>
              <a:ext uri="{FF2B5EF4-FFF2-40B4-BE49-F238E27FC236}">
                <a16:creationId xmlns:a16="http://schemas.microsoft.com/office/drawing/2014/main" id="{6656B4C9-BCBC-A861-44BA-800BB8D63F72}"/>
              </a:ext>
            </a:extLst>
          </p:cNvPr>
          <p:cNvSpPr>
            <a:spLocks noGrp="1"/>
          </p:cNvSpPr>
          <p:nvPr>
            <p:ph sz="half" idx="2"/>
          </p:nvPr>
        </p:nvSpPr>
        <p:spPr/>
        <p:txBody>
          <a:bodyPr anchor="t">
            <a:normAutofit fontScale="92500" lnSpcReduction="10000"/>
          </a:bodyPr>
          <a:lstStyle/>
          <a:p>
            <a:r>
              <a:rPr lang="en-US" dirty="0">
                <a:solidFill>
                  <a:schemeClr val="tx1"/>
                </a:solidFill>
              </a:rPr>
              <a:t>Submission means domination</a:t>
            </a:r>
          </a:p>
          <a:p>
            <a:r>
              <a:rPr lang="en-US" dirty="0">
                <a:solidFill>
                  <a:schemeClr val="tx1"/>
                </a:solidFill>
              </a:rPr>
              <a:t>Submission means inferiority</a:t>
            </a:r>
          </a:p>
          <a:p>
            <a:r>
              <a:rPr lang="en-US" dirty="0">
                <a:solidFill>
                  <a:schemeClr val="tx1"/>
                </a:solidFill>
              </a:rPr>
              <a:t>Submission means </a:t>
            </a:r>
            <a:r>
              <a:rPr lang="en-US" b="1" i="1" u="sng" dirty="0">
                <a:solidFill>
                  <a:schemeClr val="tx1"/>
                </a:solidFill>
              </a:rPr>
              <a:t>silencing</a:t>
            </a:r>
          </a:p>
          <a:p>
            <a:r>
              <a:rPr lang="en-US" dirty="0">
                <a:solidFill>
                  <a:schemeClr val="tx1"/>
                </a:solidFill>
              </a:rPr>
              <a:t>Submission is forced</a:t>
            </a:r>
          </a:p>
          <a:p>
            <a:r>
              <a:rPr lang="en-US" dirty="0">
                <a:solidFill>
                  <a:schemeClr val="tx1"/>
                </a:solidFill>
              </a:rPr>
              <a:t>Submission is only for woman</a:t>
            </a:r>
          </a:p>
          <a:p>
            <a:r>
              <a:rPr lang="en-US" dirty="0">
                <a:solidFill>
                  <a:schemeClr val="tx1"/>
                </a:solidFill>
              </a:rPr>
              <a:t>Submission is weakness</a:t>
            </a:r>
          </a:p>
          <a:p>
            <a:r>
              <a:rPr lang="en-US" dirty="0">
                <a:solidFill>
                  <a:schemeClr val="tx1"/>
                </a:solidFill>
              </a:rPr>
              <a:t>Submission is outdated</a:t>
            </a:r>
          </a:p>
          <a:p>
            <a:r>
              <a:rPr lang="en-US" dirty="0">
                <a:solidFill>
                  <a:schemeClr val="tx1"/>
                </a:solidFill>
              </a:rPr>
              <a:t>Submission is dangerous</a:t>
            </a:r>
          </a:p>
        </p:txBody>
      </p:sp>
      <p:sp>
        <p:nvSpPr>
          <p:cNvPr id="5" name="Text Placeholder 4">
            <a:extLst>
              <a:ext uri="{FF2B5EF4-FFF2-40B4-BE49-F238E27FC236}">
                <a16:creationId xmlns:a16="http://schemas.microsoft.com/office/drawing/2014/main" id="{9A75F068-D070-A1CC-D028-E784CDADB0B4}"/>
              </a:ext>
            </a:extLst>
          </p:cNvPr>
          <p:cNvSpPr>
            <a:spLocks noGrp="1"/>
          </p:cNvSpPr>
          <p:nvPr>
            <p:ph type="body" sz="quarter" idx="3"/>
          </p:nvPr>
        </p:nvSpPr>
        <p:spPr/>
        <p:txBody>
          <a:bodyPr/>
          <a:lstStyle/>
          <a:p>
            <a:pPr algn="ctr"/>
            <a:r>
              <a:rPr lang="en-US" dirty="0">
                <a:solidFill>
                  <a:schemeClr val="tx1"/>
                </a:solidFill>
              </a:rPr>
              <a:t>What the Word says</a:t>
            </a:r>
          </a:p>
        </p:txBody>
      </p:sp>
      <p:sp>
        <p:nvSpPr>
          <p:cNvPr id="6" name="Content Placeholder 5">
            <a:extLst>
              <a:ext uri="{FF2B5EF4-FFF2-40B4-BE49-F238E27FC236}">
                <a16:creationId xmlns:a16="http://schemas.microsoft.com/office/drawing/2014/main" id="{BA64951A-BB7C-D973-55FF-0B35DD4DF1DC}"/>
              </a:ext>
            </a:extLst>
          </p:cNvPr>
          <p:cNvSpPr>
            <a:spLocks noGrp="1"/>
          </p:cNvSpPr>
          <p:nvPr>
            <p:ph sz="quarter" idx="4"/>
          </p:nvPr>
        </p:nvSpPr>
        <p:spPr>
          <a:xfrm>
            <a:off x="7342632" y="1930936"/>
            <a:ext cx="4459727" cy="4023360"/>
          </a:xfrm>
        </p:spPr>
        <p:txBody>
          <a:bodyPr anchor="t">
            <a:normAutofit fontScale="92500" lnSpcReduction="10000"/>
          </a:bodyPr>
          <a:lstStyle/>
          <a:p>
            <a:r>
              <a:rPr lang="en-US" dirty="0">
                <a:solidFill>
                  <a:schemeClr val="tx1"/>
                </a:solidFill>
              </a:rPr>
              <a:t>Submission means voluntary alignment</a:t>
            </a:r>
          </a:p>
          <a:p>
            <a:r>
              <a:rPr lang="en-US" dirty="0">
                <a:solidFill>
                  <a:schemeClr val="tx1"/>
                </a:solidFill>
              </a:rPr>
              <a:t>Submission equal worth and shared dignity</a:t>
            </a:r>
          </a:p>
          <a:p>
            <a:r>
              <a:rPr lang="en-US" dirty="0">
                <a:solidFill>
                  <a:schemeClr val="tx1"/>
                </a:solidFill>
              </a:rPr>
              <a:t>Submission is active partnership</a:t>
            </a:r>
          </a:p>
          <a:p>
            <a:r>
              <a:rPr lang="en-US" dirty="0">
                <a:solidFill>
                  <a:schemeClr val="tx1"/>
                </a:solidFill>
              </a:rPr>
              <a:t>Submission is learned, taught, and chosen</a:t>
            </a:r>
          </a:p>
          <a:p>
            <a:r>
              <a:rPr lang="en-US" dirty="0">
                <a:solidFill>
                  <a:schemeClr val="tx1"/>
                </a:solidFill>
              </a:rPr>
              <a:t>Submission is a Christian posture</a:t>
            </a:r>
          </a:p>
          <a:p>
            <a:r>
              <a:rPr lang="en-US" dirty="0">
                <a:solidFill>
                  <a:schemeClr val="tx1"/>
                </a:solidFill>
              </a:rPr>
              <a:t>Submission is strength under control</a:t>
            </a:r>
          </a:p>
          <a:p>
            <a:r>
              <a:rPr lang="en-US" dirty="0">
                <a:solidFill>
                  <a:schemeClr val="tx1"/>
                </a:solidFill>
              </a:rPr>
              <a:t>Submission is missional</a:t>
            </a:r>
          </a:p>
          <a:p>
            <a:r>
              <a:rPr lang="en-US" dirty="0">
                <a:solidFill>
                  <a:schemeClr val="tx1"/>
                </a:solidFill>
              </a:rPr>
              <a:t>Submission is safe, beautiful, and gospel-shaped</a:t>
            </a:r>
          </a:p>
        </p:txBody>
      </p:sp>
    </p:spTree>
    <p:extLst>
      <p:ext uri="{BB962C8B-B14F-4D97-AF65-F5344CB8AC3E}">
        <p14:creationId xmlns:p14="http://schemas.microsoft.com/office/powerpoint/2010/main" val="2958925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3A6FF-59C0-2BA0-C010-07581C54B227}"/>
              </a:ext>
            </a:extLst>
          </p:cNvPr>
          <p:cNvSpPr>
            <a:spLocks noGrp="1"/>
          </p:cNvSpPr>
          <p:nvPr>
            <p:ph type="title"/>
          </p:nvPr>
        </p:nvSpPr>
        <p:spPr/>
        <p:txBody>
          <a:bodyPr/>
          <a:lstStyle/>
          <a:p>
            <a:r>
              <a:rPr lang="en-US" dirty="0"/>
              <a:t>What does it mean to be silent?</a:t>
            </a:r>
          </a:p>
        </p:txBody>
      </p:sp>
      <p:sp>
        <p:nvSpPr>
          <p:cNvPr id="3" name="Content Placeholder 2">
            <a:extLst>
              <a:ext uri="{FF2B5EF4-FFF2-40B4-BE49-F238E27FC236}">
                <a16:creationId xmlns:a16="http://schemas.microsoft.com/office/drawing/2014/main" id="{74F14AB3-3345-7B84-CB77-768D24EA9650}"/>
              </a:ext>
            </a:extLst>
          </p:cNvPr>
          <p:cNvSpPr>
            <a:spLocks noGrp="1"/>
          </p:cNvSpPr>
          <p:nvPr>
            <p:ph sz="half" idx="1"/>
          </p:nvPr>
        </p:nvSpPr>
        <p:spPr/>
        <p:txBody>
          <a:bodyPr anchor="t">
            <a:normAutofit/>
          </a:bodyPr>
          <a:lstStyle/>
          <a:p>
            <a:pPr marL="0" indent="0" algn="ctr">
              <a:buNone/>
            </a:pPr>
            <a:r>
              <a:rPr lang="en-US" b="1" dirty="0">
                <a:solidFill>
                  <a:schemeClr val="tx1"/>
                </a:solidFill>
              </a:rPr>
              <a:t>What People think</a:t>
            </a:r>
          </a:p>
          <a:p>
            <a:r>
              <a:rPr lang="en-US" dirty="0">
                <a:solidFill>
                  <a:schemeClr val="tx1"/>
                </a:solidFill>
              </a:rPr>
              <a:t>Women must be silent in the church</a:t>
            </a:r>
          </a:p>
          <a:p>
            <a:r>
              <a:rPr lang="en-US" dirty="0">
                <a:solidFill>
                  <a:schemeClr val="tx1"/>
                </a:solidFill>
              </a:rPr>
              <a:t>Women cannot teach</a:t>
            </a:r>
          </a:p>
          <a:p>
            <a:r>
              <a:rPr lang="en-US" dirty="0">
                <a:solidFill>
                  <a:schemeClr val="tx1"/>
                </a:solidFill>
              </a:rPr>
              <a:t>Women cannot lead</a:t>
            </a:r>
          </a:p>
          <a:p>
            <a:r>
              <a:rPr lang="en-US" dirty="0">
                <a:solidFill>
                  <a:schemeClr val="tx1"/>
                </a:solidFill>
              </a:rPr>
              <a:t>Silence is universal</a:t>
            </a:r>
          </a:p>
          <a:p>
            <a:r>
              <a:rPr lang="en-US" dirty="0">
                <a:solidFill>
                  <a:schemeClr val="tx1"/>
                </a:solidFill>
              </a:rPr>
              <a:t>Silence is about gender</a:t>
            </a:r>
          </a:p>
          <a:p>
            <a:r>
              <a:rPr lang="en-US" dirty="0">
                <a:solidFill>
                  <a:schemeClr val="tx1"/>
                </a:solidFill>
              </a:rPr>
              <a:t>Women are restricted</a:t>
            </a:r>
          </a:p>
          <a:p>
            <a:r>
              <a:rPr lang="en-US" dirty="0">
                <a:solidFill>
                  <a:schemeClr val="tx1"/>
                </a:solidFill>
              </a:rPr>
              <a:t>Submission = silence</a:t>
            </a:r>
          </a:p>
        </p:txBody>
      </p:sp>
      <p:sp>
        <p:nvSpPr>
          <p:cNvPr id="4" name="Content Placeholder 3">
            <a:extLst>
              <a:ext uri="{FF2B5EF4-FFF2-40B4-BE49-F238E27FC236}">
                <a16:creationId xmlns:a16="http://schemas.microsoft.com/office/drawing/2014/main" id="{633C1AFB-900C-D872-940C-4C5849A1C111}"/>
              </a:ext>
            </a:extLst>
          </p:cNvPr>
          <p:cNvSpPr>
            <a:spLocks noGrp="1"/>
          </p:cNvSpPr>
          <p:nvPr>
            <p:ph sz="half" idx="2"/>
          </p:nvPr>
        </p:nvSpPr>
        <p:spPr/>
        <p:txBody>
          <a:bodyPr anchor="t">
            <a:normAutofit/>
          </a:bodyPr>
          <a:lstStyle/>
          <a:p>
            <a:pPr marL="0" indent="0" algn="ctr">
              <a:buNone/>
            </a:pPr>
            <a:r>
              <a:rPr lang="en-US" b="1" dirty="0">
                <a:solidFill>
                  <a:schemeClr val="tx1"/>
                </a:solidFill>
              </a:rPr>
              <a:t>What the Bible says</a:t>
            </a:r>
          </a:p>
          <a:p>
            <a:r>
              <a:rPr lang="en-US" dirty="0">
                <a:solidFill>
                  <a:schemeClr val="tx1"/>
                </a:solidFill>
              </a:rPr>
              <a:t>Women pray and prophesy</a:t>
            </a:r>
          </a:p>
          <a:p>
            <a:r>
              <a:rPr lang="en-US" dirty="0">
                <a:solidFill>
                  <a:schemeClr val="tx1"/>
                </a:solidFill>
              </a:rPr>
              <a:t>Women are commanded to teach</a:t>
            </a:r>
          </a:p>
          <a:p>
            <a:r>
              <a:rPr lang="en-US" dirty="0">
                <a:solidFill>
                  <a:schemeClr val="tx1"/>
                </a:solidFill>
              </a:rPr>
              <a:t>Women lead house churches</a:t>
            </a:r>
          </a:p>
          <a:p>
            <a:r>
              <a:rPr lang="en-US" dirty="0">
                <a:solidFill>
                  <a:schemeClr val="tx1"/>
                </a:solidFill>
              </a:rPr>
              <a:t>Silence is situational</a:t>
            </a:r>
          </a:p>
          <a:p>
            <a:r>
              <a:rPr lang="en-US" dirty="0">
                <a:solidFill>
                  <a:schemeClr val="tx1"/>
                </a:solidFill>
              </a:rPr>
              <a:t>Silence is about specific problems</a:t>
            </a:r>
          </a:p>
          <a:p>
            <a:r>
              <a:rPr lang="en-US" dirty="0">
                <a:solidFill>
                  <a:schemeClr val="tx1"/>
                </a:solidFill>
              </a:rPr>
              <a:t>Women are active contributors to worship and ministry</a:t>
            </a:r>
          </a:p>
          <a:p>
            <a:r>
              <a:rPr lang="en-US" dirty="0">
                <a:solidFill>
                  <a:schemeClr val="tx1"/>
                </a:solidFill>
              </a:rPr>
              <a:t>Submission = gospel alignment, not muteness</a:t>
            </a:r>
          </a:p>
        </p:txBody>
      </p:sp>
    </p:spTree>
    <p:extLst>
      <p:ext uri="{BB962C8B-B14F-4D97-AF65-F5344CB8AC3E}">
        <p14:creationId xmlns:p14="http://schemas.microsoft.com/office/powerpoint/2010/main" val="227323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EB92002-904A-9760-AAFB-F97D412AD8A5}"/>
              </a:ext>
            </a:extLst>
          </p:cNvPr>
          <p:cNvSpPr>
            <a:spLocks noGrp="1"/>
          </p:cNvSpPr>
          <p:nvPr>
            <p:ph type="title"/>
          </p:nvPr>
        </p:nvSpPr>
        <p:spPr/>
        <p:txBody>
          <a:bodyPr/>
          <a:lstStyle/>
          <a:p>
            <a:r>
              <a:rPr lang="en-US" dirty="0"/>
              <a:t>Do we consider this sound doctrine?</a:t>
            </a:r>
          </a:p>
        </p:txBody>
      </p:sp>
      <p:sp>
        <p:nvSpPr>
          <p:cNvPr id="3" name="Content Placeholder 2">
            <a:extLst>
              <a:ext uri="{FF2B5EF4-FFF2-40B4-BE49-F238E27FC236}">
                <a16:creationId xmlns:a16="http://schemas.microsoft.com/office/drawing/2014/main" id="{C474A00C-BB7C-BAB0-9BA9-4A707D6513BF}"/>
              </a:ext>
            </a:extLst>
          </p:cNvPr>
          <p:cNvSpPr>
            <a:spLocks noGrp="1"/>
          </p:cNvSpPr>
          <p:nvPr>
            <p:ph idx="1"/>
          </p:nvPr>
        </p:nvSpPr>
        <p:spPr>
          <a:xfrm>
            <a:off x="3498574" y="864108"/>
            <a:ext cx="8269356" cy="5120640"/>
          </a:xfrm>
        </p:spPr>
        <p:txBody>
          <a:bodyPr/>
          <a:lstStyle/>
          <a:p>
            <a:pPr lvl="0"/>
            <a:r>
              <a:rPr lang="en-US" dirty="0">
                <a:solidFill>
                  <a:schemeClr val="tx1"/>
                </a:solidFill>
              </a:rPr>
              <a:t>Submission is not losing your voice; it is aligning your heart with the gospel.  </a:t>
            </a:r>
          </a:p>
          <a:p>
            <a:pPr lvl="0"/>
            <a:r>
              <a:rPr lang="en-US" dirty="0">
                <a:solidFill>
                  <a:schemeClr val="tx1"/>
                </a:solidFill>
              </a:rPr>
              <a:t>Submission enables men to lead with gentleness, not pride. </a:t>
            </a:r>
          </a:p>
          <a:p>
            <a:pPr lvl="0"/>
            <a:r>
              <a:rPr lang="en-US" dirty="0">
                <a:solidFill>
                  <a:schemeClr val="tx1"/>
                </a:solidFill>
              </a:rPr>
              <a:t>Submission enables women to flourish with strength, not fear.</a:t>
            </a:r>
          </a:p>
          <a:p>
            <a:pPr lvl="0"/>
            <a:r>
              <a:rPr lang="en-US" dirty="0">
                <a:solidFill>
                  <a:schemeClr val="tx1"/>
                </a:solidFill>
              </a:rPr>
              <a:t>Submission enables children to grow with wisdom, not rebellion. </a:t>
            </a:r>
          </a:p>
          <a:p>
            <a:pPr lvl="0"/>
            <a:r>
              <a:rPr lang="en-US" dirty="0">
                <a:solidFill>
                  <a:schemeClr val="tx1"/>
                </a:solidFill>
              </a:rPr>
              <a:t>Submission enables the church to worship with order, not chaos. </a:t>
            </a:r>
          </a:p>
          <a:p>
            <a:pPr lvl="0"/>
            <a:r>
              <a:rPr lang="en-US" dirty="0">
                <a:solidFill>
                  <a:schemeClr val="tx1"/>
                </a:solidFill>
              </a:rPr>
              <a:t>Submission enables relationships to thrive with peace, not power struggles.</a:t>
            </a:r>
          </a:p>
          <a:p>
            <a:pPr lvl="0"/>
            <a:r>
              <a:rPr lang="en-US" dirty="0">
                <a:solidFill>
                  <a:schemeClr val="tx1"/>
                </a:solidFill>
              </a:rPr>
              <a:t>We are meant to pursue unity, not compete for control. </a:t>
            </a:r>
          </a:p>
          <a:p>
            <a:pPr lvl="0"/>
            <a:r>
              <a:rPr lang="en-US" dirty="0">
                <a:solidFill>
                  <a:schemeClr val="tx1"/>
                </a:solidFill>
              </a:rPr>
              <a:t>Submission enables us to adorn the gospel, not obscure it.  </a:t>
            </a:r>
          </a:p>
          <a:p>
            <a:pPr lvl="0"/>
            <a:r>
              <a:rPr lang="en-US" dirty="0">
                <a:solidFill>
                  <a:schemeClr val="tx1"/>
                </a:solidFill>
              </a:rPr>
              <a:t>In Titus, submission is not about power; it is about posture.  </a:t>
            </a:r>
          </a:p>
          <a:p>
            <a:pPr lvl="0"/>
            <a:r>
              <a:rPr lang="en-US" dirty="0">
                <a:solidFill>
                  <a:schemeClr val="tx1"/>
                </a:solidFill>
              </a:rPr>
              <a:t>It is not about being less; it is about showing Christ more.</a:t>
            </a:r>
          </a:p>
        </p:txBody>
      </p:sp>
    </p:spTree>
    <p:extLst>
      <p:ext uri="{BB962C8B-B14F-4D97-AF65-F5344CB8AC3E}">
        <p14:creationId xmlns:p14="http://schemas.microsoft.com/office/powerpoint/2010/main" val="4261629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18D60-F2CB-B328-0480-5A10B8D94C9B}"/>
              </a:ext>
            </a:extLst>
          </p:cNvPr>
          <p:cNvSpPr>
            <a:spLocks noGrp="1"/>
          </p:cNvSpPr>
          <p:nvPr>
            <p:ph type="title"/>
          </p:nvPr>
        </p:nvSpPr>
        <p:spPr/>
        <p:txBody>
          <a:bodyPr/>
          <a:lstStyle/>
          <a:p>
            <a:r>
              <a:rPr lang="en-US" dirty="0"/>
              <a:t>Why is this important? For all of us?</a:t>
            </a:r>
          </a:p>
        </p:txBody>
      </p:sp>
      <p:sp>
        <p:nvSpPr>
          <p:cNvPr id="3" name="Content Placeholder 2">
            <a:extLst>
              <a:ext uri="{FF2B5EF4-FFF2-40B4-BE49-F238E27FC236}">
                <a16:creationId xmlns:a16="http://schemas.microsoft.com/office/drawing/2014/main" id="{197078C6-F1B0-6C00-1C11-4391C264206B}"/>
              </a:ext>
            </a:extLst>
          </p:cNvPr>
          <p:cNvSpPr>
            <a:spLocks noGrp="1"/>
          </p:cNvSpPr>
          <p:nvPr>
            <p:ph idx="1"/>
          </p:nvPr>
        </p:nvSpPr>
        <p:spPr/>
        <p:txBody>
          <a:bodyPr>
            <a:normAutofit/>
          </a:bodyPr>
          <a:lstStyle/>
          <a:p>
            <a:pPr marL="0" indent="0">
              <a:buNone/>
            </a:pPr>
            <a:r>
              <a:rPr lang="en-US" sz="3600" dirty="0">
                <a:solidFill>
                  <a:schemeClr val="tx1"/>
                </a:solidFill>
              </a:rPr>
              <a:t>Christ did not submit because He was less; He submitted because He was perfectly aligned with the Father’s will.  </a:t>
            </a:r>
          </a:p>
          <a:p>
            <a:pPr marL="0" indent="0">
              <a:buNone/>
            </a:pPr>
            <a:r>
              <a:rPr lang="en-US" sz="3600" dirty="0">
                <a:solidFill>
                  <a:schemeClr val="tx1"/>
                </a:solidFill>
              </a:rPr>
              <a:t>God does not demand submission to diminish us; He invites submission to transform us.</a:t>
            </a:r>
          </a:p>
        </p:txBody>
      </p:sp>
    </p:spTree>
    <p:extLst>
      <p:ext uri="{BB962C8B-B14F-4D97-AF65-F5344CB8AC3E}">
        <p14:creationId xmlns:p14="http://schemas.microsoft.com/office/powerpoint/2010/main" val="149663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FB9FB-7A2F-3CD9-BF5D-C7969F6E4DA0}"/>
              </a:ext>
            </a:extLst>
          </p:cNvPr>
          <p:cNvSpPr>
            <a:spLocks noGrp="1"/>
          </p:cNvSpPr>
          <p:nvPr>
            <p:ph type="title"/>
          </p:nvPr>
        </p:nvSpPr>
        <p:spPr/>
        <p:txBody>
          <a:bodyPr/>
          <a:lstStyle/>
          <a:p>
            <a:r>
              <a:rPr lang="en-US" dirty="0"/>
              <a:t>Table Talk</a:t>
            </a:r>
          </a:p>
        </p:txBody>
      </p:sp>
      <p:sp>
        <p:nvSpPr>
          <p:cNvPr id="3" name="Content Placeholder 2">
            <a:extLst>
              <a:ext uri="{FF2B5EF4-FFF2-40B4-BE49-F238E27FC236}">
                <a16:creationId xmlns:a16="http://schemas.microsoft.com/office/drawing/2014/main" id="{CB13294B-7E4B-B6BA-10A0-8F50DF82C229}"/>
              </a:ext>
            </a:extLst>
          </p:cNvPr>
          <p:cNvSpPr>
            <a:spLocks noGrp="1"/>
          </p:cNvSpPr>
          <p:nvPr>
            <p:ph idx="1"/>
          </p:nvPr>
        </p:nvSpPr>
        <p:spPr/>
        <p:txBody>
          <a:bodyPr>
            <a:normAutofit/>
          </a:bodyPr>
          <a:lstStyle/>
          <a:p>
            <a:pPr marL="0" indent="0">
              <a:buNone/>
            </a:pPr>
            <a:r>
              <a:rPr lang="en-US" sz="3600" dirty="0">
                <a:solidFill>
                  <a:schemeClr val="tx1"/>
                </a:solidFill>
              </a:rPr>
              <a:t>What is one relationship in your life — marriage, parenting, work, or church — where Gospel Alignment would bring more peace, unity, or clarity? And as you think about that relationship, how does Christ’s own submission to the Father reshape the way you respond, serve, or lead in that space?</a:t>
            </a:r>
          </a:p>
        </p:txBody>
      </p:sp>
    </p:spTree>
    <p:extLst>
      <p:ext uri="{BB962C8B-B14F-4D97-AF65-F5344CB8AC3E}">
        <p14:creationId xmlns:p14="http://schemas.microsoft.com/office/powerpoint/2010/main" val="2090957240"/>
      </p:ext>
    </p:extLst>
  </p:cSld>
  <p:clrMapOvr>
    <a:masterClrMapping/>
  </p:clrMapOvr>
</p:sld>
</file>

<file path=ppt/theme/theme1.xml><?xml version="1.0" encoding="utf-8"?>
<a:theme xmlns:a="http://schemas.openxmlformats.org/drawingml/2006/main" name="Fra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TM03457475[[fn=Frame]]</Template>
  <TotalTime>10098</TotalTime>
  <Words>868</Words>
  <Application>Microsoft Office PowerPoint</Application>
  <PresentationFormat>Widescreen</PresentationFormat>
  <Paragraphs>103</Paragraphs>
  <Slides>9</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Corbel</vt:lpstr>
      <vt:lpstr>Wingdings 2</vt:lpstr>
      <vt:lpstr>Frame</vt:lpstr>
      <vt:lpstr>Gospel Alignment</vt:lpstr>
      <vt:lpstr>Context</vt:lpstr>
      <vt:lpstr>Discussion</vt:lpstr>
      <vt:lpstr>A Word Study: Submission</vt:lpstr>
      <vt:lpstr>Have we been taught correctly?</vt:lpstr>
      <vt:lpstr>What does it mean to be silent?</vt:lpstr>
      <vt:lpstr>Do we consider this sound doctrine?</vt:lpstr>
      <vt:lpstr>Why is this important? For all of us?</vt:lpstr>
      <vt:lpstr>Table Talk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Harrison</dc:creator>
  <cp:lastModifiedBy>James Harrison</cp:lastModifiedBy>
  <cp:revision>29</cp:revision>
  <dcterms:created xsi:type="dcterms:W3CDTF">2026-04-07T00:26:52Z</dcterms:created>
  <dcterms:modified xsi:type="dcterms:W3CDTF">2026-08-20T17:04:24Z</dcterms:modified>
</cp:coreProperties>
</file>