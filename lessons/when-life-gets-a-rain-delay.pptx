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3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3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21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26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72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54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6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8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520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6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14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0277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62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127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39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7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45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7E0F744-3BC8-49E8-BA28-46164975D68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97F75-43A5-4444-9696-5A0F9B14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54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9C5A-61F3-D054-35CC-F514420336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When Life Gets a 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Rain Delay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C2EA4-C664-184B-B08B-A80994EF03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Focus: Mark 4:35-41</a:t>
            </a:r>
          </a:p>
        </p:txBody>
      </p:sp>
    </p:spTree>
    <p:extLst>
      <p:ext uri="{BB962C8B-B14F-4D97-AF65-F5344CB8AC3E}">
        <p14:creationId xmlns:p14="http://schemas.microsoft.com/office/powerpoint/2010/main" val="3043169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9F02C-BF70-97E0-1CC0-70CE46BD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194734"/>
            <a:ext cx="9404723" cy="868082"/>
          </a:xfrm>
        </p:spPr>
        <p:txBody>
          <a:bodyPr/>
          <a:lstStyle/>
          <a:p>
            <a:r>
              <a:rPr lang="en-US" sz="4400" dirty="0">
                <a:latin typeface="Aptos" panose="020B0004020202020204" pitchFamily="34" charset="0"/>
              </a:rPr>
              <a:t>Before we dive in…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F207-7241-522E-394C-142F15820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168399"/>
            <a:ext cx="11700933" cy="54948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>
                <a:latin typeface="Aptos" panose="020B0004020202020204" pitchFamily="34" charset="0"/>
              </a:rPr>
              <a:t>I want you to think about storms (not the ones delaying football games) but the storms life throws at us. The storms that create delays in our life.</a:t>
            </a:r>
          </a:p>
          <a:p>
            <a:pPr marL="0" indent="0">
              <a:buNone/>
            </a:pPr>
            <a:endParaRPr lang="en-US" sz="32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3200" dirty="0">
                <a:latin typeface="Aptos" panose="020B0004020202020204" pitchFamily="34" charset="0"/>
              </a:rPr>
              <a:t>Think about a storm you’ve faced in the past…</a:t>
            </a:r>
          </a:p>
          <a:p>
            <a:pPr marL="0" indent="0">
              <a:buNone/>
            </a:pPr>
            <a:r>
              <a:rPr lang="en-US" sz="3200" dirty="0">
                <a:latin typeface="Aptos" panose="020B0004020202020204" pitchFamily="34" charset="0"/>
              </a:rPr>
              <a:t>A storm you might be walking through right now…</a:t>
            </a:r>
          </a:p>
          <a:p>
            <a:pPr marL="0" indent="0">
              <a:buNone/>
            </a:pPr>
            <a:r>
              <a:rPr lang="en-US" sz="3200" dirty="0">
                <a:latin typeface="Aptos" panose="020B0004020202020204" pitchFamily="34" charset="0"/>
              </a:rPr>
              <a:t>Or even one you feel might be forming on the horizon.</a:t>
            </a:r>
          </a:p>
          <a:p>
            <a:pPr marL="0" indent="0">
              <a:buNone/>
            </a:pPr>
            <a:endParaRPr lang="en-US" sz="32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3200" dirty="0">
                <a:latin typeface="Aptos" panose="020B0004020202020204" pitchFamily="34" charset="0"/>
              </a:rPr>
              <a:t>You don’t have to share it out loud. Just name it in your mind.</a:t>
            </a:r>
          </a:p>
          <a:p>
            <a:pPr marL="0" indent="0">
              <a:buNone/>
            </a:pPr>
            <a:endParaRPr lang="en-US" sz="32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3200" dirty="0">
                <a:latin typeface="Aptos" panose="020B0004020202020204" pitchFamily="34" charset="0"/>
              </a:rPr>
              <a:t>What storm comes to your heart first?</a:t>
            </a:r>
          </a:p>
        </p:txBody>
      </p:sp>
    </p:spTree>
    <p:extLst>
      <p:ext uri="{BB962C8B-B14F-4D97-AF65-F5344CB8AC3E}">
        <p14:creationId xmlns:p14="http://schemas.microsoft.com/office/powerpoint/2010/main" val="110167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DF164-F7C9-7446-57A3-6304A3A11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6549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Before they got into the boat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5E3E9-8668-AF00-B497-6B260C726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1447800"/>
            <a:ext cx="9719733" cy="48006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ptos" panose="020B0004020202020204" pitchFamily="34" charset="0"/>
              </a:rPr>
              <a:t>A full day of teaching</a:t>
            </a:r>
          </a:p>
          <a:p>
            <a:r>
              <a:rPr lang="en-US" sz="4000" dirty="0">
                <a:latin typeface="Aptos" panose="020B0004020202020204" pitchFamily="34" charset="0"/>
              </a:rPr>
              <a:t>Growing crowds, growing pressure</a:t>
            </a:r>
          </a:p>
          <a:p>
            <a:r>
              <a:rPr lang="en-US" sz="4000" dirty="0">
                <a:latin typeface="Aptos" panose="020B0004020202020204" pitchFamily="34" charset="0"/>
              </a:rPr>
              <a:t>The disciples are tired but learning</a:t>
            </a:r>
          </a:p>
          <a:p>
            <a:r>
              <a:rPr lang="en-US" sz="4000" dirty="0">
                <a:latin typeface="Aptos" panose="020B0004020202020204" pitchFamily="34" charset="0"/>
              </a:rPr>
              <a:t>Evening comes and Jesus initiates a trip</a:t>
            </a:r>
          </a:p>
          <a:p>
            <a:r>
              <a:rPr lang="en-US" sz="4000" dirty="0">
                <a:latin typeface="Aptos" panose="020B0004020202020204" pitchFamily="34" charset="0"/>
              </a:rPr>
              <a:t>The “other side” matters</a:t>
            </a:r>
          </a:p>
        </p:txBody>
      </p:sp>
    </p:spTree>
    <p:extLst>
      <p:ext uri="{BB962C8B-B14F-4D97-AF65-F5344CB8AC3E}">
        <p14:creationId xmlns:p14="http://schemas.microsoft.com/office/powerpoint/2010/main" val="190495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F5E66-5C55-0A9F-3D58-B32E0496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578" y="389468"/>
            <a:ext cx="9404723" cy="732615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Verse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E5D3B-8A21-0ADA-431E-E13C6675F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85333"/>
            <a:ext cx="10845800" cy="53848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b="1" baseline="30000" dirty="0">
                <a:latin typeface="Aptos" panose="020B0004020202020204" pitchFamily="34" charset="0"/>
              </a:rPr>
              <a:t>35 </a:t>
            </a:r>
            <a:r>
              <a:rPr lang="en-US" sz="3600" dirty="0">
                <a:latin typeface="Aptos" panose="020B0004020202020204" pitchFamily="34" charset="0"/>
              </a:rPr>
              <a:t>On that day, when evening had come, he told them, “Let’s cross over to the other side of the sea.” </a:t>
            </a:r>
            <a:r>
              <a:rPr lang="en-US" sz="3600" b="1" baseline="30000" dirty="0">
                <a:latin typeface="Aptos" panose="020B0004020202020204" pitchFamily="34" charset="0"/>
              </a:rPr>
              <a:t>36 </a:t>
            </a:r>
            <a:r>
              <a:rPr lang="en-US" sz="3600" dirty="0">
                <a:latin typeface="Aptos" panose="020B0004020202020204" pitchFamily="34" charset="0"/>
              </a:rPr>
              <a:t>So they left the crowd and took him along since he was in the boat. And other boats were with him.</a:t>
            </a:r>
          </a:p>
          <a:p>
            <a:r>
              <a:rPr lang="en-US" sz="3600" dirty="0">
                <a:latin typeface="Aptos" panose="020B0004020202020204" pitchFamily="34" charset="0"/>
              </a:rPr>
              <a:t>What do we notice here?</a:t>
            </a:r>
          </a:p>
          <a:p>
            <a:pPr lvl="1"/>
            <a:r>
              <a:rPr lang="en-US" sz="3400" dirty="0">
                <a:latin typeface="Aptos" panose="020B0004020202020204" pitchFamily="34" charset="0"/>
              </a:rPr>
              <a:t>They got in the boat because of obedience.</a:t>
            </a:r>
          </a:p>
          <a:p>
            <a:r>
              <a:rPr lang="en-US" sz="3600" dirty="0">
                <a:latin typeface="Aptos" panose="020B0004020202020204" pitchFamily="34" charset="0"/>
              </a:rPr>
              <a:t>Why is this important?</a:t>
            </a:r>
          </a:p>
          <a:p>
            <a:pPr lvl="1"/>
            <a:r>
              <a:rPr lang="en-US" sz="3400" dirty="0">
                <a:latin typeface="Aptos" panose="020B0004020202020204" pitchFamily="34" charset="0"/>
              </a:rPr>
              <a:t>Obedience to Christ is not a shield from hardship.  Sometimes, even in our obedience, we enter the storm.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683DF5-4493-016B-2E95-E0C45B6683F0}"/>
              </a:ext>
            </a:extLst>
          </p:cNvPr>
          <p:cNvSpPr/>
          <p:nvPr/>
        </p:nvSpPr>
        <p:spPr>
          <a:xfrm>
            <a:off x="7408333" y="1263525"/>
            <a:ext cx="2396068" cy="4323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C4AA91-FBC7-F382-1C35-5864F37FFBA4}"/>
              </a:ext>
            </a:extLst>
          </p:cNvPr>
          <p:cNvSpPr/>
          <p:nvPr/>
        </p:nvSpPr>
        <p:spPr>
          <a:xfrm>
            <a:off x="7671253" y="1774016"/>
            <a:ext cx="2133148" cy="44425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5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28240-46E7-97A3-487C-3765C4386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56AB-3961-8EB5-EBD3-99002AC78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8" y="384984"/>
            <a:ext cx="9404723" cy="732615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Same thing here…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A5BEF-2604-032E-F891-9BF9B9088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9" y="1117599"/>
            <a:ext cx="11091333" cy="5740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baseline="30000" dirty="0">
                <a:latin typeface="Aptos" panose="020B0004020202020204" pitchFamily="34" charset="0"/>
              </a:rPr>
              <a:t>37 </a:t>
            </a:r>
            <a:r>
              <a:rPr lang="en-US" sz="2400" dirty="0">
                <a:latin typeface="Aptos" panose="020B0004020202020204" pitchFamily="34" charset="0"/>
              </a:rPr>
              <a:t>A great windstorm arose, and the waves were breaking over the boat, so that the boat was already being swamped.</a:t>
            </a:r>
          </a:p>
          <a:p>
            <a:r>
              <a:rPr lang="en-US" sz="2400" b="1" dirty="0">
                <a:latin typeface="Aptos" panose="020B0004020202020204" pitchFamily="34" charset="0"/>
              </a:rPr>
              <a:t>What do we notice here?</a:t>
            </a: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It wasn’t gradual. It wasn’t predictable. </a:t>
            </a:r>
            <a:r>
              <a:rPr lang="en-US" sz="2400" b="1" i="1" dirty="0">
                <a:latin typeface="Aptos" panose="020B0004020202020204" pitchFamily="34" charset="0"/>
              </a:rPr>
              <a:t>It hit</a:t>
            </a:r>
            <a:r>
              <a:rPr lang="en-US" sz="2400" dirty="0">
                <a:latin typeface="Aptos" panose="020B0004020202020204" pitchFamily="34" charset="0"/>
              </a:rPr>
              <a:t>.</a:t>
            </a: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Not splashing. Not rocking. Breaking—forceful, violent</a:t>
            </a: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Not starting to take on water. Not getting rough. </a:t>
            </a:r>
            <a:r>
              <a:rPr lang="en-US" sz="2400" b="1" i="1" dirty="0">
                <a:latin typeface="Aptos" panose="020B0004020202020204" pitchFamily="34" charset="0"/>
              </a:rPr>
              <a:t>It was overwhelmed—fast.</a:t>
            </a:r>
          </a:p>
          <a:p>
            <a:r>
              <a:rPr lang="en-US" sz="2400" b="1" dirty="0">
                <a:latin typeface="Aptos" panose="020B0004020202020204" pitchFamily="34" charset="0"/>
              </a:rPr>
              <a:t>Why is this important?</a:t>
            </a: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Storms in life often come </a:t>
            </a:r>
            <a:r>
              <a:rPr lang="en-US" sz="2400" b="1" dirty="0">
                <a:latin typeface="Aptos" panose="020B0004020202020204" pitchFamily="34" charset="0"/>
              </a:rPr>
              <a:t>without warning</a:t>
            </a:r>
            <a:r>
              <a:rPr lang="en-US" sz="2400" dirty="0">
                <a:latin typeface="Aptos" panose="020B0004020202020204" pitchFamily="34" charset="0"/>
              </a:rPr>
              <a:t>.</a:t>
            </a: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They escalate </a:t>
            </a:r>
            <a:r>
              <a:rPr lang="en-US" sz="2400" b="1" dirty="0">
                <a:latin typeface="Aptos" panose="020B0004020202020204" pitchFamily="34" charset="0"/>
              </a:rPr>
              <a:t>faster than we expect</a:t>
            </a:r>
            <a:r>
              <a:rPr lang="en-US" sz="2400" dirty="0">
                <a:latin typeface="Aptos" panose="020B0004020202020204" pitchFamily="34" charset="0"/>
              </a:rPr>
              <a:t>.</a:t>
            </a: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They overwhelm us </a:t>
            </a:r>
            <a:r>
              <a:rPr lang="en-US" sz="2400" b="1" dirty="0">
                <a:latin typeface="Aptos" panose="020B0004020202020204" pitchFamily="34" charset="0"/>
              </a:rPr>
              <a:t>before we can respond</a:t>
            </a:r>
            <a:r>
              <a:rPr lang="en-US" sz="2400" dirty="0">
                <a:latin typeface="Aptos" panose="020B0004020202020204" pitchFamily="34" charset="0"/>
              </a:rPr>
              <a:t>.</a:t>
            </a: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Even when we’re doing exactly what Jesus told us to do, storms can still feel sudden, severe, and beyond our control.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F80B8E-2DB4-3C90-A457-7F26E305C8AF}"/>
              </a:ext>
            </a:extLst>
          </p:cNvPr>
          <p:cNvSpPr/>
          <p:nvPr/>
        </p:nvSpPr>
        <p:spPr>
          <a:xfrm>
            <a:off x="2980267" y="1172633"/>
            <a:ext cx="812800" cy="309034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EB4362-8650-4D33-FBAA-3885A9CA5895}"/>
              </a:ext>
            </a:extLst>
          </p:cNvPr>
          <p:cNvSpPr/>
          <p:nvPr/>
        </p:nvSpPr>
        <p:spPr>
          <a:xfrm>
            <a:off x="5774266" y="1164165"/>
            <a:ext cx="1905002" cy="347134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5A9B4B-2FC5-A710-E10D-491C08BFCD0B}"/>
              </a:ext>
            </a:extLst>
          </p:cNvPr>
          <p:cNvSpPr/>
          <p:nvPr/>
        </p:nvSpPr>
        <p:spPr>
          <a:xfrm>
            <a:off x="2573866" y="1532465"/>
            <a:ext cx="2175934" cy="35560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63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5605-43FF-AC78-A161-353AC9EF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91882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“Don’t you care that we’re going to die?”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22886-72A4-6411-E594-8FC6A52AC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573867"/>
            <a:ext cx="8946541" cy="3674532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dirty="0">
                <a:latin typeface="Aptos" panose="020B0004020202020204" pitchFamily="34" charset="0"/>
              </a:rPr>
              <a:t>When the storm is loud and we think God is sleeping, how do we respond?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875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8C6B6-4691-1F08-838E-7A70320C6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98749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The Calm in the Storm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E1659-9C2F-1CA6-5D24-763DCF0E7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67" y="1151468"/>
            <a:ext cx="10160000" cy="5477932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latin typeface="Aptos" panose="020B0004020202020204" pitchFamily="34" charset="0"/>
              </a:rPr>
              <a:t>Jesus calmed the storm just as quickly as the storm arose. He didn’t tell the disciples to do anything more than they were already doing. </a:t>
            </a:r>
          </a:p>
          <a:p>
            <a:pPr lvl="1"/>
            <a:r>
              <a:rPr lang="en-US" sz="2600" dirty="0">
                <a:latin typeface="Aptos" panose="020B0004020202020204" pitchFamily="34" charset="0"/>
              </a:rPr>
              <a:t>The storm bought disaster, but Jesus brought deliverance.</a:t>
            </a:r>
          </a:p>
          <a:p>
            <a:r>
              <a:rPr lang="en-US" sz="2800" dirty="0">
                <a:latin typeface="Aptos" panose="020B0004020202020204" pitchFamily="34" charset="0"/>
              </a:rPr>
              <a:t>The storm didn’t just arise suddenly — it struck with overwhelming intensity. The waves weren’t splashing; they were breaking over the boat. The boat wasn’t starting to take on water; it was already swamped. </a:t>
            </a:r>
          </a:p>
          <a:p>
            <a:pPr lvl="1"/>
            <a:r>
              <a:rPr lang="en-US" sz="2600" dirty="0">
                <a:latin typeface="Aptos" panose="020B0004020202020204" pitchFamily="34" charset="0"/>
              </a:rPr>
              <a:t>The storm brought severity, but Jesus brought supremacy.</a:t>
            </a:r>
          </a:p>
          <a:p>
            <a:r>
              <a:rPr lang="en-US" sz="2800" dirty="0">
                <a:latin typeface="Aptos" panose="020B0004020202020204" pitchFamily="34" charset="0"/>
              </a:rPr>
              <a:t>After calming the storm, Jesus addressed the deeper issue. The storm exposed their fear, but His calm exposed their faith. </a:t>
            </a:r>
          </a:p>
          <a:p>
            <a:pPr lvl="1"/>
            <a:r>
              <a:rPr lang="en-US" sz="2600" dirty="0">
                <a:latin typeface="Aptos" panose="020B0004020202020204" pitchFamily="34" charset="0"/>
              </a:rPr>
              <a:t>His question wasn’t about the storm — it was about their hearts.</a:t>
            </a:r>
          </a:p>
        </p:txBody>
      </p:sp>
    </p:spTree>
    <p:extLst>
      <p:ext uri="{BB962C8B-B14F-4D97-AF65-F5344CB8AC3E}">
        <p14:creationId xmlns:p14="http://schemas.microsoft.com/office/powerpoint/2010/main" val="197028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7E908-9148-0CB8-ADAF-62F602D58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9549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“Who then is this?”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C08A7-DF40-8801-7B85-6118EBCC7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33" y="1202268"/>
            <a:ext cx="10608735" cy="504613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ptos" panose="020B0004020202020204" pitchFamily="34" charset="0"/>
              </a:rPr>
              <a:t>Psalm 89:8-9, He rules the raging sea.</a:t>
            </a:r>
          </a:p>
          <a:p>
            <a:r>
              <a:rPr lang="en-US" sz="2800" dirty="0">
                <a:latin typeface="Aptos" panose="020B0004020202020204" pitchFamily="34" charset="0"/>
              </a:rPr>
              <a:t>Psalm 107:28-30, He stills the storm.</a:t>
            </a:r>
          </a:p>
          <a:p>
            <a:endParaRPr lang="en-US" sz="2800" dirty="0">
              <a:latin typeface="Aptos" panose="020B0004020202020204" pitchFamily="34" charset="0"/>
            </a:endParaRPr>
          </a:p>
          <a:p>
            <a:r>
              <a:rPr lang="en-US" sz="2800" dirty="0">
                <a:latin typeface="Aptos" panose="020B0004020202020204" pitchFamily="34" charset="0"/>
              </a:rPr>
              <a:t>The storm didn’t just reveal their fear. It revealed His identity as the Lord God. </a:t>
            </a:r>
          </a:p>
          <a:p>
            <a:endParaRPr lang="en-US" sz="2800" dirty="0">
              <a:latin typeface="Aptos" panose="020B0004020202020204" pitchFamily="34" charset="0"/>
            </a:endParaRPr>
          </a:p>
          <a:p>
            <a:r>
              <a:rPr lang="en-US" sz="2800" dirty="0">
                <a:latin typeface="Aptos" panose="020B0004020202020204" pitchFamily="34" charset="0"/>
              </a:rPr>
              <a:t>The presence of a storm does not mean the absence of a savior.</a:t>
            </a:r>
          </a:p>
          <a:p>
            <a:r>
              <a:rPr lang="en-US" sz="2800" dirty="0">
                <a:latin typeface="Aptos" panose="020B0004020202020204" pitchFamily="34" charset="0"/>
              </a:rPr>
              <a:t>The overwhelming storm does not mean it can’t be overcome.</a:t>
            </a:r>
          </a:p>
          <a:p>
            <a:r>
              <a:rPr lang="en-US" sz="2800" dirty="0">
                <a:latin typeface="Aptos" panose="020B0004020202020204" pitchFamily="34" charset="0"/>
              </a:rPr>
              <a:t>The chaos around us does not cancel the authority above us.</a:t>
            </a:r>
          </a:p>
        </p:txBody>
      </p:sp>
    </p:spTree>
    <p:extLst>
      <p:ext uri="{BB962C8B-B14F-4D97-AF65-F5344CB8AC3E}">
        <p14:creationId xmlns:p14="http://schemas.microsoft.com/office/powerpoint/2010/main" val="64904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61FAD-79AE-0B94-FE87-E0C67B3DF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51149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Table Talk/Discussion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210A1-5F4F-996A-6ACF-849039118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067" y="1303868"/>
            <a:ext cx="10041465" cy="49445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ptos" panose="020B0004020202020204" pitchFamily="34" charset="0"/>
              </a:rPr>
              <a:t>When you think about your storm — one you’ve faced, are facing, or may face — what is it that stirs fear in you, what makes you run to Jesus while still doubting His deliverance?</a:t>
            </a:r>
          </a:p>
          <a:p>
            <a:pPr marL="0" indent="0">
              <a:buNone/>
            </a:pPr>
            <a:endParaRPr lang="en-US" sz="32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3200" dirty="0">
                <a:latin typeface="Aptos" panose="020B0004020202020204" pitchFamily="34" charset="0"/>
              </a:rPr>
              <a:t>How does that storm delay you from moving forward or distract you from the ‘other side’ He’s leading you toward? When life gets a rain delay, how do we stay focused on the Savior and not the storm?</a:t>
            </a:r>
          </a:p>
        </p:txBody>
      </p:sp>
    </p:spTree>
    <p:extLst>
      <p:ext uri="{BB962C8B-B14F-4D97-AF65-F5344CB8AC3E}">
        <p14:creationId xmlns:p14="http://schemas.microsoft.com/office/powerpoint/2010/main" val="31327930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392</TotalTime>
  <Words>677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Century Gothic</vt:lpstr>
      <vt:lpstr>Wingdings 3</vt:lpstr>
      <vt:lpstr>Ion</vt:lpstr>
      <vt:lpstr>When Life Gets a  Rain Delay</vt:lpstr>
      <vt:lpstr>Before we dive in…</vt:lpstr>
      <vt:lpstr>Before they got into the boat</vt:lpstr>
      <vt:lpstr>Verse Breakdown</vt:lpstr>
      <vt:lpstr>Same thing here…</vt:lpstr>
      <vt:lpstr>“Don’t you care that we’re going to die?”</vt:lpstr>
      <vt:lpstr>The Calm in the Storm</vt:lpstr>
      <vt:lpstr>“Who then is this?”</vt:lpstr>
      <vt:lpstr>Table Talk/Discussion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Harrison</dc:creator>
  <cp:lastModifiedBy>James Harrison</cp:lastModifiedBy>
  <cp:revision>15</cp:revision>
  <dcterms:created xsi:type="dcterms:W3CDTF">2026-09-19T22:30:41Z</dcterms:created>
  <dcterms:modified xsi:type="dcterms:W3CDTF">2026-09-20T14:53:49Z</dcterms:modified>
</cp:coreProperties>
</file>