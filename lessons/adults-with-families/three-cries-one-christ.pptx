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2"/>
  </p:notesMasterIdLst>
  <p:sldIdLst>
    <p:sldId id="256" r:id="rId2"/>
    <p:sldId id="272" r:id="rId3"/>
    <p:sldId id="264" r:id="rId4"/>
    <p:sldId id="260" r:id="rId5"/>
    <p:sldId id="265" r:id="rId6"/>
    <p:sldId id="266" r:id="rId7"/>
    <p:sldId id="269" r:id="rId8"/>
    <p:sldId id="270" r:id="rId9"/>
    <p:sldId id="271" r:id="rId10"/>
    <p:sldId id="27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746" autoAdjust="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9F416A-214E-404F-AD5A-1BF62BB89116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FEE7AB-F124-47AA-85EA-44F84A143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260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scripture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E7AB-F124-47AA-85EA-44F84A143D3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160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827E0-26CF-02C8-AC66-DBDD21D0D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3D10DC-0F5A-73A4-1AB5-F15C1EBE48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511D78-4EB5-2166-727F-0ACA2FA81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EE0D2-9BA5-D603-AD4E-57CF069323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E7AB-F124-47AA-85EA-44F84A143D3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2080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E7AB-F124-47AA-85EA-44F84A143D3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75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47BA9-BADC-9BB8-1B03-128B9E11D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BAEB7-2495-592E-53CB-DD16A0ED37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0F115D-5D6D-C475-CE85-E919BD6EE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81683-CD22-7005-F7C8-F97FB3548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FEE7AB-F124-47AA-85EA-44F84A143D3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4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905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187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63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860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892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027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472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161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879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722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5041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2358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471348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787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5586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151B6-AC67-475C-A2E7-57C5D004DB52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690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151B6-AC67-475C-A2E7-57C5D004DB52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F7622EC-91B0-4223-B3F2-31A32DCEF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868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27577DEC-D9A5-404D-9789-702F4319B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EEA9366-CEA8-4F23-B065-4337F0D8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04A03D6-39B4-4278-9BE1-A07E02449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BE459AF-3736-4886-82E0-9B5DA427B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23">
              <a:extLst>
                <a:ext uri="{FF2B5EF4-FFF2-40B4-BE49-F238E27FC236}">
                  <a16:creationId xmlns:a16="http://schemas.microsoft.com/office/drawing/2014/main" id="{4B6B88EF-180C-4E39-8A3F-A52E87110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7" name="Rectangle 25">
              <a:extLst>
                <a:ext uri="{FF2B5EF4-FFF2-40B4-BE49-F238E27FC236}">
                  <a16:creationId xmlns:a16="http://schemas.microsoft.com/office/drawing/2014/main" id="{52DFAACF-64D0-4621-8FF4-E2F03C3E8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36611FF0-65B3-49DB-97C6-1B72AAD0F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9" name="Rectangle 27">
              <a:extLst>
                <a:ext uri="{FF2B5EF4-FFF2-40B4-BE49-F238E27FC236}">
                  <a16:creationId xmlns:a16="http://schemas.microsoft.com/office/drawing/2014/main" id="{0F7407FE-86B1-4890-9D80-9406FBF29E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0" name="Rectangle 29">
              <a:extLst>
                <a:ext uri="{FF2B5EF4-FFF2-40B4-BE49-F238E27FC236}">
                  <a16:creationId xmlns:a16="http://schemas.microsoft.com/office/drawing/2014/main" id="{EBD42D5B-8F87-45B3-98B3-C66944F92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1" name="Isosceles Triangle 60">
              <a:extLst>
                <a:ext uri="{FF2B5EF4-FFF2-40B4-BE49-F238E27FC236}">
                  <a16:creationId xmlns:a16="http://schemas.microsoft.com/office/drawing/2014/main" id="{F5E04699-59E1-4468-9E7C-83070EEB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2" name="Isosceles Triangle 61">
              <a:extLst>
                <a:ext uri="{FF2B5EF4-FFF2-40B4-BE49-F238E27FC236}">
                  <a16:creationId xmlns:a16="http://schemas.microsoft.com/office/drawing/2014/main" id="{F2AE8F13-9A52-4D7F-9637-321EA7CF32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DDBDBF1A-DEDF-4CB1-0605-D0FBB23C73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Aptos" panose="020B0004020202020204" pitchFamily="34" charset="0"/>
              </a:rPr>
              <a:t>Mark 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1AE860-8A95-9EF0-D894-C2986C4F4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291" y="2404534"/>
            <a:ext cx="8538712" cy="1646302"/>
          </a:xfrm>
        </p:spPr>
        <p:txBody>
          <a:bodyPr>
            <a:normAutofit fontScale="90000"/>
          </a:bodyPr>
          <a:lstStyle/>
          <a:p>
            <a:r>
              <a:rPr lang="en-US" sz="7200" dirty="0">
                <a:latin typeface="Aptos" panose="020B0004020202020204" pitchFamily="34" charset="0"/>
              </a:rPr>
              <a:t>Three Cries, One Christ</a:t>
            </a:r>
          </a:p>
        </p:txBody>
      </p:sp>
    </p:spTree>
    <p:extLst>
      <p:ext uri="{BB962C8B-B14F-4D97-AF65-F5344CB8AC3E}">
        <p14:creationId xmlns:p14="http://schemas.microsoft.com/office/powerpoint/2010/main" val="38701832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C1CE7-F9F0-5DF9-8737-F19E8F681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E0F57-522B-6EB8-50A6-D91ADF043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98" y="229385"/>
            <a:ext cx="8949049" cy="892405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latin typeface="Aptos" panose="020B0004020202020204" pitchFamily="34" charset="0"/>
              </a:rPr>
              <a:t>Think on this…we will come back…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BC20A6-B8DB-A9B9-639C-F8DB1217A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5" y="1341120"/>
            <a:ext cx="9499705" cy="544146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5400" dirty="0">
                <a:latin typeface="Aptos" panose="020B0004020202020204" pitchFamily="34" charset="0"/>
              </a:rPr>
              <a:t>When you think about Jesus — who He is, what He can do, and how He works in your life — what comes to your mind? How has He revealed Himself to you personally?</a:t>
            </a:r>
          </a:p>
        </p:txBody>
      </p:sp>
    </p:spTree>
    <p:extLst>
      <p:ext uri="{BB962C8B-B14F-4D97-AF65-F5344CB8AC3E}">
        <p14:creationId xmlns:p14="http://schemas.microsoft.com/office/powerpoint/2010/main" val="3271341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75672-483B-5154-FF20-1AF1B687F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EC38E-D70F-361E-96FC-50B3AE93B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499" y="383356"/>
            <a:ext cx="8878076" cy="927283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ptos" panose="020B0004020202020204" pitchFamily="34" charset="0"/>
              </a:rPr>
              <a:t>From claim to reveal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24FB4-1F29-D036-A827-AA6376E73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377" y="1310640"/>
            <a:ext cx="10369485" cy="49377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>
                <a:latin typeface="Aptos" panose="020B0004020202020204" pitchFamily="34" charset="0"/>
              </a:rPr>
              <a:t>John 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400" dirty="0">
                <a:latin typeface="Aptos" panose="020B0004020202020204" pitchFamily="34" charset="0"/>
              </a:rPr>
              <a:t>Heals on the Sabbath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400" dirty="0">
                <a:latin typeface="Aptos" panose="020B0004020202020204" pitchFamily="34" charset="0"/>
              </a:rPr>
              <a:t>Claims equality with the Father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400" dirty="0">
                <a:latin typeface="Aptos" panose="020B0004020202020204" pitchFamily="34" charset="0"/>
              </a:rPr>
              <a:t>Claims authority to give life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400" dirty="0">
                <a:latin typeface="Aptos" panose="020B0004020202020204" pitchFamily="34" charset="0"/>
              </a:rPr>
              <a:t>Claims authority to judge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400" dirty="0">
                <a:latin typeface="Aptos" panose="020B0004020202020204" pitchFamily="34" charset="0"/>
              </a:rPr>
              <a:t>Claims unity with the Father’s works</a:t>
            </a:r>
          </a:p>
        </p:txBody>
      </p:sp>
    </p:spTree>
    <p:extLst>
      <p:ext uri="{BB962C8B-B14F-4D97-AF65-F5344CB8AC3E}">
        <p14:creationId xmlns:p14="http://schemas.microsoft.com/office/powerpoint/2010/main" val="203816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CE0448-DD48-C8E0-CCF6-78B4D9FB3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7D3CD5-1D6D-0389-64A3-4B09A1EEB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14346D-BFDD-E0CE-BBE4-F14644707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379" y="229385"/>
            <a:ext cx="8596668" cy="670561"/>
          </a:xfrm>
        </p:spPr>
        <p:txBody>
          <a:bodyPr>
            <a:norm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Backdrop for Jesus’ Reveal</a:t>
            </a: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5BDEC82F-92AA-B70B-AB57-15AE3C1CD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7E5BA1-FB0D-1062-A40B-31B71652B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169" y="975362"/>
            <a:ext cx="11569831" cy="58826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>
                <a:effectLst/>
              </a:rPr>
              <a:t>Region of Gentile territory (</a:t>
            </a:r>
            <a:r>
              <a:rPr lang="en-US" sz="3200" dirty="0"/>
              <a:t>Gerasenes or Gadarenes)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</a:rPr>
              <a:t>Hellenistic culture, pagan worship, and Roman influence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</a:rPr>
              <a:t>A place Jews typically avoided</a:t>
            </a:r>
          </a:p>
          <a:p>
            <a:pPr marL="0" indent="0">
              <a:buNone/>
            </a:pPr>
            <a:endParaRPr lang="en-US" sz="3200" dirty="0">
              <a:effectLst/>
            </a:endParaRPr>
          </a:p>
          <a:p>
            <a:pPr marL="0" indent="0">
              <a:buNone/>
            </a:pPr>
            <a:r>
              <a:rPr lang="en-US" sz="3200" dirty="0">
                <a:effectLst/>
              </a:rPr>
              <a:t>This matters because: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</a:rPr>
              <a:t>A Jewish rabbi entering Gentile land was already shocking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</a:rPr>
              <a:t>Unclean spirit, unclean dead, unclea</a:t>
            </a:r>
            <a:r>
              <a:rPr lang="en-US" sz="3200" dirty="0"/>
              <a:t>n conditions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</a:t>
            </a:r>
            <a:r>
              <a:rPr lang="en-US" sz="3200" dirty="0">
                <a:effectLst/>
              </a:rPr>
              <a:t>piritual oppression in a spiritually dark region</a:t>
            </a:r>
            <a:endParaRPr lang="en-US" sz="3200" dirty="0"/>
          </a:p>
          <a:p>
            <a:pPr>
              <a:buNone/>
            </a:pPr>
            <a:endParaRPr lang="en-US" sz="3200" b="1" dirty="0">
              <a:effectLst/>
            </a:endParaRPr>
          </a:p>
          <a:p>
            <a:pPr>
              <a:buNone/>
            </a:pPr>
            <a:r>
              <a:rPr lang="en-US" sz="3200" b="1" dirty="0">
                <a:effectLst/>
              </a:rPr>
              <a:t>Jesus is intentionally stepping into enemy territory.</a:t>
            </a:r>
            <a:endParaRPr lang="en-US" sz="3200" dirty="0"/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3200" dirty="0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EB62742-6A67-891B-FB12-6F3CAA576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5274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2C9D6-1821-15DD-F370-5ED221F69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329" y="1590773"/>
            <a:ext cx="9255148" cy="367645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3900" dirty="0"/>
              <a:t>Mark 5</a:t>
            </a:r>
          </a:p>
        </p:txBody>
      </p:sp>
    </p:spTree>
    <p:extLst>
      <p:ext uri="{BB962C8B-B14F-4D97-AF65-F5344CB8AC3E}">
        <p14:creationId xmlns:p14="http://schemas.microsoft.com/office/powerpoint/2010/main" val="1810793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6F054-B492-3696-A5B5-AD66A8F6F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5542"/>
            <a:ext cx="8596668" cy="787138"/>
          </a:xfrm>
        </p:spPr>
        <p:txBody>
          <a:bodyPr/>
          <a:lstStyle/>
          <a:p>
            <a:r>
              <a:rPr lang="en-US" dirty="0"/>
              <a:t>Recognition That Cries 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1AA87-ABD1-AA9A-2E7F-F66F2281B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942680"/>
            <a:ext cx="9550748" cy="5759779"/>
          </a:xfrm>
        </p:spPr>
        <p:txBody>
          <a:bodyPr>
            <a:noAutofit/>
          </a:bodyPr>
          <a:lstStyle/>
          <a:p>
            <a:r>
              <a:rPr lang="en-US" sz="2200" dirty="0">
                <a:latin typeface="Aptos" panose="020B0004020202020204" pitchFamily="34" charset="0"/>
              </a:rPr>
              <a:t>The possessed man v.6-7</a:t>
            </a:r>
          </a:p>
          <a:p>
            <a:pPr lvl="1"/>
            <a:r>
              <a:rPr lang="en-US" sz="2200" dirty="0">
                <a:latin typeface="Aptos" panose="020B0004020202020204" pitchFamily="34" charset="0"/>
              </a:rPr>
              <a:t>Saw him at a distance and ran to fall at his feet.</a:t>
            </a:r>
          </a:p>
          <a:p>
            <a:pPr lvl="1"/>
            <a:r>
              <a:rPr lang="en-US" sz="2200" dirty="0">
                <a:latin typeface="Aptos" panose="020B0004020202020204" pitchFamily="34" charset="0"/>
              </a:rPr>
              <a:t>A fear of being overpowered.</a:t>
            </a:r>
          </a:p>
          <a:p>
            <a:pPr lvl="1"/>
            <a:r>
              <a:rPr lang="en-US" sz="2200" dirty="0">
                <a:solidFill>
                  <a:srgbClr val="000000"/>
                </a:solidFill>
                <a:latin typeface="Aptos" panose="020B0004020202020204" pitchFamily="34" charset="0"/>
              </a:rPr>
              <a:t>He recognized Jesus’ identity.</a:t>
            </a:r>
            <a:endParaRPr lang="en-US" sz="2200" b="0" i="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r>
              <a:rPr lang="en-US" sz="2200" dirty="0">
                <a:solidFill>
                  <a:srgbClr val="000000"/>
                </a:solidFill>
                <a:latin typeface="Aptos" panose="020B0004020202020204" pitchFamily="34" charset="0"/>
              </a:rPr>
              <a:t>The pleading father v.22-23</a:t>
            </a:r>
          </a:p>
          <a:p>
            <a:pPr lvl="1"/>
            <a:r>
              <a:rPr lang="en-US" sz="2200" dirty="0">
                <a:solidFill>
                  <a:srgbClr val="000000"/>
                </a:solidFill>
                <a:latin typeface="Aptos" panose="020B0004020202020204" pitchFamily="34" charset="0"/>
              </a:rPr>
              <a:t>Saw him amongst the crowd and came to fall at his feet.</a:t>
            </a:r>
          </a:p>
          <a:p>
            <a:pPr lvl="1"/>
            <a:r>
              <a:rPr lang="en-US" sz="2200" dirty="0">
                <a:solidFill>
                  <a:srgbClr val="000000"/>
                </a:solidFill>
                <a:latin typeface="Aptos" panose="020B0004020202020204" pitchFamily="34" charset="0"/>
              </a:rPr>
              <a:t>A desperate plea of survival.</a:t>
            </a:r>
          </a:p>
          <a:p>
            <a:pPr lvl="1"/>
            <a:r>
              <a:rPr lang="en-US" sz="2200" dirty="0">
                <a:solidFill>
                  <a:srgbClr val="000000"/>
                </a:solidFill>
                <a:latin typeface="Aptos" panose="020B0004020202020204" pitchFamily="34" charset="0"/>
              </a:rPr>
              <a:t>He recognized Jesus’ ability.</a:t>
            </a:r>
          </a:p>
          <a:p>
            <a:r>
              <a:rPr lang="en-US" sz="2200" dirty="0">
                <a:solidFill>
                  <a:srgbClr val="000000"/>
                </a:solidFill>
                <a:latin typeface="Aptos" panose="020B0004020202020204" pitchFamily="34" charset="0"/>
              </a:rPr>
              <a:t>The pressing woman v.27-28</a:t>
            </a:r>
          </a:p>
          <a:p>
            <a:pPr lvl="1"/>
            <a:r>
              <a:rPr lang="en-US" sz="2200" dirty="0">
                <a:solidFill>
                  <a:srgbClr val="000000"/>
                </a:solidFill>
                <a:latin typeface="Aptos" panose="020B0004020202020204" pitchFamily="34" charset="0"/>
              </a:rPr>
              <a:t>Saw him from behind and stretch out to grab the edge of his clothes.</a:t>
            </a:r>
          </a:p>
          <a:p>
            <a:pPr lvl="1"/>
            <a:r>
              <a:rPr lang="en-US" sz="2200" dirty="0">
                <a:solidFill>
                  <a:srgbClr val="000000"/>
                </a:solidFill>
                <a:latin typeface="Aptos" panose="020B0004020202020204" pitchFamily="34" charset="0"/>
              </a:rPr>
              <a:t>A believing reach for hope.</a:t>
            </a:r>
            <a:endParaRPr lang="en-US" sz="2200" b="0" i="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lvl="1"/>
            <a:r>
              <a:rPr lang="en-US" sz="2200" dirty="0">
                <a:solidFill>
                  <a:srgbClr val="000000"/>
                </a:solidFill>
                <a:latin typeface="Aptos" panose="020B0004020202020204" pitchFamily="34" charset="0"/>
              </a:rPr>
              <a:t>She recognized Jesus’ character.</a:t>
            </a:r>
            <a:endParaRPr lang="en-US" sz="22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275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01940-3A96-271B-35C5-B2FC60ED9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D81AC-768F-922C-B607-5C9780916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5542"/>
            <a:ext cx="8596668" cy="787138"/>
          </a:xfrm>
        </p:spPr>
        <p:txBody>
          <a:bodyPr/>
          <a:lstStyle/>
          <a:p>
            <a:r>
              <a:rPr lang="en-US" dirty="0"/>
              <a:t>Request That Presses 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4F454-B051-DDFF-B5E6-1A2B45494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942681"/>
            <a:ext cx="8938006" cy="5759778"/>
          </a:xfrm>
        </p:spPr>
        <p:txBody>
          <a:bodyPr>
            <a:noAutofit/>
          </a:bodyPr>
          <a:lstStyle/>
          <a:p>
            <a:r>
              <a:rPr lang="en-US" sz="2200" dirty="0">
                <a:latin typeface="Aptos" panose="020B0004020202020204" pitchFamily="34" charset="0"/>
              </a:rPr>
              <a:t>The possessed man v.9-13 (Identity)</a:t>
            </a:r>
          </a:p>
          <a:p>
            <a:pPr lvl="1"/>
            <a:r>
              <a:rPr lang="en-US" sz="2200" dirty="0">
                <a:latin typeface="Aptos" panose="020B0004020202020204" pitchFamily="34" charset="0"/>
              </a:rPr>
              <a:t>They wanted to avoid/delay judgement. (Luke 8:31) </a:t>
            </a:r>
          </a:p>
          <a:p>
            <a:pPr lvl="1"/>
            <a:r>
              <a:rPr lang="en-US" sz="2200" dirty="0">
                <a:latin typeface="Aptos" panose="020B0004020202020204" pitchFamily="34" charset="0"/>
              </a:rPr>
              <a:t>They wanted to hinder Jesus’ work in the region. (v. 14-17)</a:t>
            </a:r>
          </a:p>
          <a:p>
            <a:pPr lvl="1"/>
            <a:r>
              <a:rPr lang="en-US" sz="2200" dirty="0">
                <a:solidFill>
                  <a:srgbClr val="000000"/>
                </a:solidFill>
                <a:latin typeface="Aptos" panose="020B0004020202020204" pitchFamily="34" charset="0"/>
              </a:rPr>
              <a:t>They requested release.</a:t>
            </a:r>
            <a:endParaRPr lang="en-US" sz="2200" b="0" i="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r>
              <a:rPr lang="en-US" sz="2200" dirty="0">
                <a:solidFill>
                  <a:srgbClr val="000000"/>
                </a:solidFill>
                <a:latin typeface="Aptos" panose="020B0004020202020204" pitchFamily="34" charset="0"/>
              </a:rPr>
              <a:t>The pleading father v.22-23 (Ability)</a:t>
            </a:r>
          </a:p>
          <a:p>
            <a:pPr lvl="1"/>
            <a:r>
              <a:rPr lang="en-US" sz="2200" dirty="0">
                <a:solidFill>
                  <a:srgbClr val="000000"/>
                </a:solidFill>
                <a:latin typeface="Aptos" panose="020B0004020202020204" pitchFamily="34" charset="0"/>
              </a:rPr>
              <a:t>He wanted Jesus’ presence.</a:t>
            </a:r>
          </a:p>
          <a:p>
            <a:pPr lvl="1"/>
            <a:r>
              <a:rPr lang="en-US" sz="2200" dirty="0">
                <a:solidFill>
                  <a:srgbClr val="000000"/>
                </a:solidFill>
                <a:latin typeface="Aptos" panose="020B0004020202020204" pitchFamily="34" charset="0"/>
              </a:rPr>
              <a:t>He wanted Jesus’ power.</a:t>
            </a:r>
          </a:p>
          <a:p>
            <a:pPr lvl="1"/>
            <a:r>
              <a:rPr lang="en-US" sz="2200" dirty="0">
                <a:solidFill>
                  <a:srgbClr val="000000"/>
                </a:solidFill>
                <a:latin typeface="Aptos" panose="020B0004020202020204" pitchFamily="34" charset="0"/>
              </a:rPr>
              <a:t>He requested rescue.</a:t>
            </a:r>
          </a:p>
          <a:p>
            <a:r>
              <a:rPr lang="en-US" sz="2200" dirty="0">
                <a:solidFill>
                  <a:srgbClr val="000000"/>
                </a:solidFill>
                <a:latin typeface="Aptos" panose="020B0004020202020204" pitchFamily="34" charset="0"/>
              </a:rPr>
              <a:t>The pressing woman v.27-28 (Character)</a:t>
            </a:r>
          </a:p>
          <a:p>
            <a:pPr lvl="1"/>
            <a:r>
              <a:rPr lang="en-US" sz="2200" dirty="0">
                <a:solidFill>
                  <a:srgbClr val="000000"/>
                </a:solidFill>
                <a:latin typeface="Aptos" panose="020B0004020202020204" pitchFamily="34" charset="0"/>
              </a:rPr>
              <a:t>She wanted access.</a:t>
            </a:r>
          </a:p>
          <a:p>
            <a:pPr lvl="1"/>
            <a:r>
              <a:rPr lang="en-US" sz="2200" dirty="0">
                <a:solidFill>
                  <a:srgbClr val="000000"/>
                </a:solidFill>
                <a:latin typeface="Aptos" panose="020B0004020202020204" pitchFamily="34" charset="0"/>
              </a:rPr>
              <a:t>She wanted healing.</a:t>
            </a:r>
          </a:p>
          <a:p>
            <a:pPr lvl="1"/>
            <a:r>
              <a:rPr lang="en-US" sz="2200" dirty="0">
                <a:solidFill>
                  <a:srgbClr val="000000"/>
                </a:solidFill>
                <a:latin typeface="Aptos" panose="020B0004020202020204" pitchFamily="34" charset="0"/>
              </a:rPr>
              <a:t>She requested restoration.</a:t>
            </a:r>
            <a:endParaRPr lang="en-US" sz="22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244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F5C83-8CF7-F44E-6885-07D1DF343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2493D-67AA-7BF4-FEF7-3FC72DE6F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5542"/>
            <a:ext cx="8596668" cy="787138"/>
          </a:xfrm>
        </p:spPr>
        <p:txBody>
          <a:bodyPr/>
          <a:lstStyle/>
          <a:p>
            <a:r>
              <a:rPr lang="en-US" dirty="0"/>
              <a:t>Restoration That Brings Life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72C76-6247-24FD-81E5-76B138502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942681"/>
            <a:ext cx="8938006" cy="5759778"/>
          </a:xfrm>
        </p:spPr>
        <p:txBody>
          <a:bodyPr>
            <a:noAutofit/>
          </a:bodyPr>
          <a:lstStyle/>
          <a:p>
            <a:r>
              <a:rPr lang="en-US" sz="2200" dirty="0">
                <a:latin typeface="Aptos" panose="020B0004020202020204" pitchFamily="34" charset="0"/>
              </a:rPr>
              <a:t>The possessed man v.18-20 (Identity)</a:t>
            </a:r>
          </a:p>
          <a:p>
            <a:pPr lvl="1"/>
            <a:r>
              <a:rPr lang="en-US" sz="2200" dirty="0">
                <a:latin typeface="Aptos" panose="020B0004020202020204" pitchFamily="34" charset="0"/>
              </a:rPr>
              <a:t>He is clothed, in his right mind, he was sent, called a man.</a:t>
            </a:r>
          </a:p>
          <a:p>
            <a:pPr lvl="1"/>
            <a:r>
              <a:rPr lang="en-US" sz="2200" dirty="0">
                <a:latin typeface="Aptos" panose="020B0004020202020204" pitchFamily="34" charset="0"/>
              </a:rPr>
              <a:t>He gave him back his humanity, dignity, place in the community. </a:t>
            </a:r>
          </a:p>
          <a:p>
            <a:pPr lvl="1"/>
            <a:r>
              <a:rPr lang="en-US" sz="2200" dirty="0">
                <a:solidFill>
                  <a:srgbClr val="000000"/>
                </a:solidFill>
                <a:latin typeface="Aptos" panose="020B0004020202020204" pitchFamily="34" charset="0"/>
              </a:rPr>
              <a:t>Jesus restored his identity.</a:t>
            </a:r>
            <a:endParaRPr lang="en-US" sz="2200" b="0" i="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r>
              <a:rPr lang="en-US" sz="2200" dirty="0">
                <a:solidFill>
                  <a:srgbClr val="000000"/>
                </a:solidFill>
                <a:latin typeface="Aptos" panose="020B0004020202020204" pitchFamily="34" charset="0"/>
              </a:rPr>
              <a:t>The pleading father v.41-43 (Ability)</a:t>
            </a:r>
          </a:p>
          <a:p>
            <a:pPr lvl="1"/>
            <a:r>
              <a:rPr lang="en-US" sz="2200" dirty="0">
                <a:solidFill>
                  <a:srgbClr val="000000"/>
                </a:solidFill>
                <a:latin typeface="Aptos" panose="020B0004020202020204" pitchFamily="34" charset="0"/>
              </a:rPr>
              <a:t>The daughter rises, walks, given food, return to her father.</a:t>
            </a:r>
          </a:p>
          <a:p>
            <a:pPr lvl="1"/>
            <a:r>
              <a:rPr lang="en-US" sz="2200" dirty="0">
                <a:solidFill>
                  <a:srgbClr val="000000"/>
                </a:solidFill>
                <a:latin typeface="Aptos" panose="020B0004020202020204" pitchFamily="34" charset="0"/>
              </a:rPr>
              <a:t>He gave the father back his joy, his hope, his future.</a:t>
            </a:r>
          </a:p>
          <a:p>
            <a:pPr lvl="1"/>
            <a:r>
              <a:rPr lang="en-US" sz="2200" dirty="0">
                <a:solidFill>
                  <a:srgbClr val="000000"/>
                </a:solidFill>
                <a:latin typeface="Aptos" panose="020B0004020202020204" pitchFamily="34" charset="0"/>
              </a:rPr>
              <a:t>Jesus restored his fatherhood.</a:t>
            </a:r>
          </a:p>
          <a:p>
            <a:r>
              <a:rPr lang="en-US" sz="2200" dirty="0">
                <a:solidFill>
                  <a:srgbClr val="000000"/>
                </a:solidFill>
                <a:latin typeface="Aptos" panose="020B0004020202020204" pitchFamily="34" charset="0"/>
              </a:rPr>
              <a:t>The pressing woman v.32-34 (Character)</a:t>
            </a:r>
          </a:p>
          <a:p>
            <a:pPr lvl="1"/>
            <a:r>
              <a:rPr lang="en-US" sz="2200" dirty="0">
                <a:solidFill>
                  <a:srgbClr val="000000"/>
                </a:solidFill>
                <a:latin typeface="Aptos" panose="020B0004020202020204" pitchFamily="34" charset="0"/>
              </a:rPr>
              <a:t>She is trembling, confessing, but believing.</a:t>
            </a:r>
          </a:p>
          <a:p>
            <a:pPr lvl="1"/>
            <a:r>
              <a:rPr lang="en-US" sz="2200" dirty="0">
                <a:solidFill>
                  <a:srgbClr val="000000"/>
                </a:solidFill>
                <a:latin typeface="Aptos" panose="020B0004020202020204" pitchFamily="34" charset="0"/>
              </a:rPr>
              <a:t>He gave her back her honor, belonging, peace, a story.</a:t>
            </a:r>
          </a:p>
          <a:p>
            <a:pPr lvl="1"/>
            <a:r>
              <a:rPr lang="en-US" sz="2200" dirty="0">
                <a:solidFill>
                  <a:srgbClr val="000000"/>
                </a:solidFill>
                <a:latin typeface="Aptos" panose="020B0004020202020204" pitchFamily="34" charset="0"/>
              </a:rPr>
              <a:t>Jesus restored her character.</a:t>
            </a:r>
            <a:endParaRPr lang="en-US" sz="22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921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B2942-E007-DF9E-B7F2-DB26EA9AD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19DB0-CB7F-EE69-7585-2EC8A0D6F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5542"/>
            <a:ext cx="8596668" cy="787138"/>
          </a:xfrm>
        </p:spPr>
        <p:txBody>
          <a:bodyPr/>
          <a:lstStyle/>
          <a:p>
            <a:r>
              <a:rPr lang="en-US" dirty="0"/>
              <a:t>Revealing of the Trinity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B0B05-7BBF-8779-F2CC-1FCF7256F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942681"/>
            <a:ext cx="9296225" cy="5759778"/>
          </a:xfrm>
        </p:spPr>
        <p:txBody>
          <a:bodyPr>
            <a:noAutofit/>
          </a:bodyPr>
          <a:lstStyle/>
          <a:p>
            <a:r>
              <a:rPr lang="en-US" sz="2200" dirty="0">
                <a:latin typeface="Aptos" panose="020B0004020202020204" pitchFamily="34" charset="0"/>
              </a:rPr>
              <a:t>God the Father — Authority (Possessed Man)</a:t>
            </a:r>
          </a:p>
          <a:p>
            <a:pPr lvl="1"/>
            <a:r>
              <a:rPr lang="en-US" sz="2200" dirty="0">
                <a:latin typeface="Aptos" panose="020B0004020202020204" pitchFamily="34" charset="0"/>
              </a:rPr>
              <a:t>His authority over demons restores the man’s identity</a:t>
            </a:r>
          </a:p>
          <a:p>
            <a:pPr lvl="1"/>
            <a:r>
              <a:rPr lang="en-US" sz="2200" dirty="0">
                <a:latin typeface="Aptos" panose="020B0004020202020204" pitchFamily="34" charset="0"/>
              </a:rPr>
              <a:t>His sovereign power re‑names, re‑clothes, and re‑commissions him</a:t>
            </a:r>
          </a:p>
          <a:p>
            <a:pPr lvl="1"/>
            <a:r>
              <a:rPr lang="en-US" sz="2200" dirty="0">
                <a:latin typeface="Aptos" panose="020B0004020202020204" pitchFamily="34" charset="0"/>
              </a:rPr>
              <a:t>Jesus reveals his true identity.</a:t>
            </a:r>
          </a:p>
          <a:p>
            <a:r>
              <a:rPr lang="en-US" sz="2200" dirty="0">
                <a:latin typeface="Aptos" panose="020B0004020202020204" pitchFamily="34" charset="0"/>
              </a:rPr>
              <a:t>God the Son — Presence (Pleading Father)</a:t>
            </a:r>
          </a:p>
          <a:p>
            <a:pPr lvl="1"/>
            <a:r>
              <a:rPr lang="en-US" sz="2200" dirty="0">
                <a:latin typeface="Aptos" panose="020B0004020202020204" pitchFamily="34" charset="0"/>
              </a:rPr>
              <a:t>His physical touch and spoken word restore the father’s hope</a:t>
            </a:r>
          </a:p>
          <a:p>
            <a:pPr lvl="1"/>
            <a:r>
              <a:rPr lang="en-US" sz="2200" dirty="0">
                <a:latin typeface="Aptos" panose="020B0004020202020204" pitchFamily="34" charset="0"/>
              </a:rPr>
              <a:t>His nearness and compassion return the daughter to her father</a:t>
            </a:r>
          </a:p>
          <a:p>
            <a:pPr lvl="1"/>
            <a:r>
              <a:rPr lang="en-US" sz="2200" dirty="0">
                <a:latin typeface="Aptos" panose="020B0004020202020204" pitchFamily="34" charset="0"/>
              </a:rPr>
              <a:t>Jesus reveals his true ability.</a:t>
            </a:r>
          </a:p>
          <a:p>
            <a:r>
              <a:rPr lang="en-US" sz="2200" dirty="0">
                <a:latin typeface="Aptos" panose="020B0004020202020204" pitchFamily="34" charset="0"/>
              </a:rPr>
              <a:t>God the Spirit — Movement (Pressing Woman)</a:t>
            </a:r>
          </a:p>
          <a:p>
            <a:pPr lvl="1"/>
            <a:r>
              <a:rPr lang="en-US" sz="2200" dirty="0">
                <a:latin typeface="Aptos" panose="020B0004020202020204" pitchFamily="34" charset="0"/>
              </a:rPr>
              <a:t>His hidden prompting stirs her faith to reach for Jesus</a:t>
            </a:r>
          </a:p>
          <a:p>
            <a:pPr lvl="1"/>
            <a:r>
              <a:rPr lang="en-US" sz="2200" dirty="0">
                <a:latin typeface="Aptos" panose="020B0004020202020204" pitchFamily="34" charset="0"/>
              </a:rPr>
              <a:t>His inward work restores her peace, belonging, and character</a:t>
            </a:r>
          </a:p>
          <a:p>
            <a:pPr lvl="1"/>
            <a:r>
              <a:rPr lang="en-US" sz="2200" dirty="0">
                <a:latin typeface="Aptos" panose="020B0004020202020204" pitchFamily="34" charset="0"/>
              </a:rPr>
              <a:t>Jesus reveals his true character.</a:t>
            </a:r>
          </a:p>
        </p:txBody>
      </p:sp>
    </p:spTree>
    <p:extLst>
      <p:ext uri="{BB962C8B-B14F-4D97-AF65-F5344CB8AC3E}">
        <p14:creationId xmlns:p14="http://schemas.microsoft.com/office/powerpoint/2010/main" val="3666560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AEFF2-381A-9B14-CAF0-6483E58C1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A4988-DCA0-9DBC-9FB0-E2E454DB1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98" y="229385"/>
            <a:ext cx="8949049" cy="892405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Aptos" panose="020B0004020202020204" pitchFamily="34" charset="0"/>
              </a:rPr>
              <a:t>Back to this…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BCCAD1-5417-E56D-4A20-0032DA03D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5" y="1341120"/>
            <a:ext cx="9499705" cy="544146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5400" dirty="0">
                <a:latin typeface="Aptos" panose="020B0004020202020204" pitchFamily="34" charset="0"/>
              </a:rPr>
              <a:t>When you think about Jesus — who He is, what He can do, and how He works in your life — what comes to your mind? How has He revealed Himself to you personally?</a:t>
            </a:r>
          </a:p>
        </p:txBody>
      </p:sp>
    </p:spTree>
    <p:extLst>
      <p:ext uri="{BB962C8B-B14F-4D97-AF65-F5344CB8AC3E}">
        <p14:creationId xmlns:p14="http://schemas.microsoft.com/office/powerpoint/2010/main" val="286694374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7892</TotalTime>
  <Words>631</Words>
  <Application>Microsoft Office PowerPoint</Application>
  <PresentationFormat>Widescreen</PresentationFormat>
  <Paragraphs>82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Trebuchet MS</vt:lpstr>
      <vt:lpstr>Wingdings 3</vt:lpstr>
      <vt:lpstr>Facet</vt:lpstr>
      <vt:lpstr>Three Cries, One Christ</vt:lpstr>
      <vt:lpstr>Think on this…we will come back…</vt:lpstr>
      <vt:lpstr>From claim to reveal</vt:lpstr>
      <vt:lpstr>Backdrop for Jesus’ Reveal</vt:lpstr>
      <vt:lpstr>Mark 5</vt:lpstr>
      <vt:lpstr>Recognition That Cries Out</vt:lpstr>
      <vt:lpstr>Request That Presses In</vt:lpstr>
      <vt:lpstr>Restoration That Brings Life</vt:lpstr>
      <vt:lpstr>Revealing of the Trinity</vt:lpstr>
      <vt:lpstr>Back to this…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Harrison</dc:creator>
  <cp:lastModifiedBy>James Harrison</cp:lastModifiedBy>
  <cp:revision>26</cp:revision>
  <dcterms:created xsi:type="dcterms:W3CDTF">2026-04-07T00:26:52Z</dcterms:created>
  <dcterms:modified xsi:type="dcterms:W3CDTF">2026-06-27T15:25:38Z</dcterms:modified>
</cp:coreProperties>
</file>